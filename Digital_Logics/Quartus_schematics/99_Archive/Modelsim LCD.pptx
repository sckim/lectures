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85" r:id="rId3"/>
    <p:sldId id="270" r:id="rId4"/>
    <p:sldId id="290" r:id="rId5"/>
    <p:sldId id="273" r:id="rId6"/>
    <p:sldId id="284" r:id="rId7"/>
    <p:sldId id="283" r:id="rId8"/>
    <p:sldId id="280" r:id="rId9"/>
    <p:sldId id="286" r:id="rId10"/>
    <p:sldId id="287" r:id="rId11"/>
    <p:sldId id="291" r:id="rId12"/>
    <p:sldId id="293" r:id="rId13"/>
    <p:sldId id="294" r:id="rId14"/>
    <p:sldId id="292" r:id="rId15"/>
    <p:sldId id="288" r:id="rId16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테마 스타일 1 - 강조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4C1A8A3-306A-4EB7-A6B1-4F7E0EB9C5D6}" styleName="보통 스타일 3 - 강조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6" d="100"/>
          <a:sy n="96" d="100"/>
        </p:scale>
        <p:origin x="-114" y="-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F4460-E195-4D0A-A690-6BF81554E894}" type="datetimeFigureOut">
              <a:rPr lang="ko-KR" altLang="en-US" smtClean="0"/>
              <a:pPr/>
              <a:t>2011-08-15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E2E8E-FEF2-4C57-89E3-A807A30C4CC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44212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F4460-E195-4D0A-A690-6BF81554E894}" type="datetimeFigureOut">
              <a:rPr lang="ko-KR" altLang="en-US" smtClean="0"/>
              <a:pPr/>
              <a:t>2011-08-15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E2E8E-FEF2-4C57-89E3-A807A30C4CC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4243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F4460-E195-4D0A-A690-6BF81554E894}" type="datetimeFigureOut">
              <a:rPr lang="ko-KR" altLang="en-US" smtClean="0"/>
              <a:pPr/>
              <a:t>2011-08-15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E2E8E-FEF2-4C57-89E3-A807A30C4CC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788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F4460-E195-4D0A-A690-6BF81554E894}" type="datetimeFigureOut">
              <a:rPr lang="ko-KR" altLang="en-US" smtClean="0"/>
              <a:pPr/>
              <a:t>2011-08-15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E2E8E-FEF2-4C57-89E3-A807A30C4CC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6809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F4460-E195-4D0A-A690-6BF81554E894}" type="datetimeFigureOut">
              <a:rPr lang="ko-KR" altLang="en-US" smtClean="0"/>
              <a:pPr/>
              <a:t>2011-08-15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E2E8E-FEF2-4C57-89E3-A807A30C4CC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1118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F4460-E195-4D0A-A690-6BF81554E894}" type="datetimeFigureOut">
              <a:rPr lang="ko-KR" altLang="en-US" smtClean="0"/>
              <a:pPr/>
              <a:t>2011-08-15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E2E8E-FEF2-4C57-89E3-A807A30C4CC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8800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F4460-E195-4D0A-A690-6BF81554E894}" type="datetimeFigureOut">
              <a:rPr lang="ko-KR" altLang="en-US" smtClean="0"/>
              <a:pPr/>
              <a:t>2011-08-15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E2E8E-FEF2-4C57-89E3-A807A30C4CC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1914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F4460-E195-4D0A-A690-6BF81554E894}" type="datetimeFigureOut">
              <a:rPr lang="ko-KR" altLang="en-US" smtClean="0"/>
              <a:pPr/>
              <a:t>2011-08-15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E2E8E-FEF2-4C57-89E3-A807A30C4CC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3277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F4460-E195-4D0A-A690-6BF81554E894}" type="datetimeFigureOut">
              <a:rPr lang="ko-KR" altLang="en-US" smtClean="0"/>
              <a:pPr/>
              <a:t>2011-08-15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E2E8E-FEF2-4C57-89E3-A807A30C4CC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4761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F4460-E195-4D0A-A690-6BF81554E894}" type="datetimeFigureOut">
              <a:rPr lang="ko-KR" altLang="en-US" smtClean="0"/>
              <a:pPr/>
              <a:t>2011-08-15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E2E8E-FEF2-4C57-89E3-A807A30C4CC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7153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F4460-E195-4D0A-A690-6BF81554E894}" type="datetimeFigureOut">
              <a:rPr lang="ko-KR" altLang="en-US" smtClean="0"/>
              <a:pPr/>
              <a:t>2011-08-15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E2E8E-FEF2-4C57-89E3-A807A30C4CC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2331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F4460-E195-4D0A-A690-6BF81554E894}" type="datetimeFigureOut">
              <a:rPr lang="ko-KR" altLang="en-US" smtClean="0"/>
              <a:pPr/>
              <a:t>2011-08-15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BE2E8E-FEF2-4C57-89E3-A807A30C4CC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6286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://users.ece.gatech.edu/~leehs/ECE3055/homework/modelsim_tut.pdf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smtClean="0"/>
              <a:t>VHDL( </a:t>
            </a:r>
            <a:r>
              <a:rPr lang="en-US" altLang="ko-KR" dirty="0" err="1" smtClean="0"/>
              <a:t>Quartus</a:t>
            </a:r>
            <a:r>
              <a:rPr lang="en-US" altLang="ko-KR" dirty="0" smtClean="0"/>
              <a:t> Ⅱ + DE2)</a:t>
            </a:r>
            <a:br>
              <a:rPr lang="en-US" altLang="ko-KR" dirty="0" smtClean="0"/>
            </a:br>
            <a:r>
              <a:rPr lang="en-US" altLang="ko-KR" dirty="0" smtClean="0"/>
              <a:t>2010.3.23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 smtClean="0"/>
              <a:t>PS2 Keyboard to LCD,  Test Bench</a:t>
            </a:r>
            <a:endParaRPr lang="ko-KR" altLang="en-US" dirty="0"/>
          </a:p>
        </p:txBody>
      </p:sp>
      <p:sp>
        <p:nvSpPr>
          <p:cNvPr id="4" name="부제목 2"/>
          <p:cNvSpPr txBox="1">
            <a:spLocks/>
          </p:cNvSpPr>
          <p:nvPr/>
        </p:nvSpPr>
        <p:spPr>
          <a:xfrm>
            <a:off x="6858016" y="6357958"/>
            <a:ext cx="1933532" cy="356608"/>
          </a:xfrm>
          <a:prstGeom prst="rect">
            <a:avLst/>
          </a:prstGeom>
        </p:spPr>
        <p:txBody>
          <a:bodyPr vert="horz" lIns="118872" tIns="0" rIns="45720" bIns="0" rtlCol="0" anchor="b">
            <a:normAutofit fontScale="85000" lnSpcReduction="10000"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lang="en-US" altLang="ko-KR" sz="2000" dirty="0" smtClean="0">
                <a:solidFill>
                  <a:schemeClr val="accent1">
                    <a:lumMod val="75000"/>
                  </a:schemeClr>
                </a:solidFill>
              </a:rPr>
              <a:t>By  Shin </a:t>
            </a:r>
            <a:r>
              <a:rPr lang="en-US" altLang="ko-KR" sz="2000" dirty="0" err="1" smtClean="0">
                <a:solidFill>
                  <a:schemeClr val="accent1">
                    <a:lumMod val="75000"/>
                  </a:schemeClr>
                </a:solidFill>
              </a:rPr>
              <a:t>Ji</a:t>
            </a:r>
            <a:r>
              <a:rPr lang="en-US" altLang="ko-KR" sz="2000" dirty="0" smtClean="0">
                <a:solidFill>
                  <a:schemeClr val="accent1">
                    <a:lumMod val="75000"/>
                  </a:schemeClr>
                </a:solidFill>
              </a:rPr>
              <a:t>-young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LCD code </a:t>
            </a:r>
            <a:r>
              <a:rPr lang="ko-KR" altLang="en-US" dirty="0" smtClean="0"/>
              <a:t>비교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AVR </a:t>
            </a:r>
            <a:r>
              <a:rPr lang="en-US" altLang="ko-KR" dirty="0" err="1" smtClean="0"/>
              <a:t>vs</a:t>
            </a:r>
            <a:r>
              <a:rPr lang="en-US" altLang="ko-KR" dirty="0" smtClean="0"/>
              <a:t> VHDL</a:t>
            </a:r>
            <a:endParaRPr lang="ko-KR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altLang="ko-KR" dirty="0" smtClean="0"/>
              <a:t>LCD Controller</a:t>
            </a:r>
            <a:endParaRPr lang="ko-KR" altLang="en-US" dirty="0"/>
          </a:p>
        </p:txBody>
      </p:sp>
      <p:pic>
        <p:nvPicPr>
          <p:cNvPr id="2560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881523" y="2353657"/>
            <a:ext cx="7380953" cy="3019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 err="1" smtClean="0"/>
              <a:t>텍스트형</a:t>
            </a:r>
            <a:r>
              <a:rPr lang="ko-KR" altLang="en-US" dirty="0" smtClean="0"/>
              <a:t> </a:t>
            </a:r>
            <a:r>
              <a:rPr lang="en-US" altLang="ko-KR" dirty="0" smtClean="0"/>
              <a:t>LCD </a:t>
            </a:r>
            <a:r>
              <a:rPr lang="ko-KR" altLang="en-US" dirty="0" smtClean="0"/>
              <a:t>모듈의 제어 </a:t>
            </a:r>
            <a:r>
              <a:rPr lang="ko-KR" altLang="en-US" dirty="0" err="1" smtClean="0"/>
              <a:t>명령표</a:t>
            </a:r>
            <a:endParaRPr lang="ko-KR" altLang="en-US" dirty="0"/>
          </a:p>
        </p:txBody>
      </p:sp>
      <p:graphicFrame>
        <p:nvGraphicFramePr>
          <p:cNvPr id="6" name="내용 개체 틀 5"/>
          <p:cNvGraphicFramePr>
            <a:graphicFrameLocks noGrp="1"/>
          </p:cNvGraphicFramePr>
          <p:nvPr>
            <p:ph idx="1"/>
          </p:nvPr>
        </p:nvGraphicFramePr>
        <p:xfrm>
          <a:off x="142839" y="2071678"/>
          <a:ext cx="8786884" cy="406610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12447"/>
                <a:gridCol w="606767"/>
                <a:gridCol w="606767"/>
                <a:gridCol w="606767"/>
                <a:gridCol w="606767"/>
                <a:gridCol w="606767"/>
                <a:gridCol w="606767"/>
                <a:gridCol w="606767"/>
                <a:gridCol w="606767"/>
                <a:gridCol w="606767"/>
                <a:gridCol w="606767"/>
                <a:gridCol w="606767"/>
              </a:tblGrid>
              <a:tr h="317284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/>
                        <a:t>기능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/>
                        <a:t>제어신호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/>
                        <a:t>제어명령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/>
                        <a:t>실행시간 </a:t>
                      </a:r>
                      <a:r>
                        <a:rPr lang="en-US" altLang="ko-KR" sz="1100" u="none" strike="noStrike"/>
                        <a:t>(</a:t>
                      </a:r>
                      <a:r>
                        <a:rPr lang="en-US" sz="1100" u="none" strike="noStrike"/>
                        <a:t>Max)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</a:tr>
              <a:tr h="3172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/>
                        <a:t>RS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/>
                        <a:t>R/W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/>
                        <a:t>DB7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/>
                        <a:t>DB6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/>
                        <a:t>DB5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/>
                        <a:t>DB4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/>
                        <a:t>DB3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/>
                        <a:t>DB2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/>
                        <a:t>DB1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/>
                        <a:t>DB0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1728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/>
                        <a:t>1. Clear Display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/>
                        <a:t>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/>
                        <a:t>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/>
                        <a:t>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/>
                        <a:t>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/>
                        <a:t>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/>
                        <a:t>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/>
                        <a:t>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/>
                        <a:t>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/>
                        <a:t>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/>
                        <a:t>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/>
                        <a:t>1.52ms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</a:tr>
              <a:tr h="3034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/>
                        <a:t>2. Return home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/>
                        <a:t>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/>
                        <a:t>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/>
                        <a:t>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/>
                        <a:t>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/>
                        <a:t>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/>
                        <a:t>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/>
                        <a:t>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/>
                        <a:t>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/>
                        <a:t>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/>
                        <a:t>-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/>
                        <a:t>1.52ms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</a:tr>
              <a:tr h="3034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/>
                        <a:t>3. Entry mode set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/>
                        <a:t>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/>
                        <a:t>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/>
                        <a:t>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/>
                        <a:t>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/>
                        <a:t>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/>
                        <a:t>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/>
                        <a:t>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/>
                        <a:t>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/>
                        <a:t>I/D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/>
                        <a:t>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/>
                        <a:t>37us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</a:tr>
              <a:tr h="3034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/>
                        <a:t>4. Display ON/OFF control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/>
                        <a:t>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/>
                        <a:t>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/>
                        <a:t>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/>
                        <a:t>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/>
                        <a:t>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/>
                        <a:t>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/>
                        <a:t>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/>
                        <a:t>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/>
                        <a:t>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/>
                        <a:t>B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/>
                        <a:t>37us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</a:tr>
              <a:tr h="3034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/>
                        <a:t>5. Cursor or display shift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/>
                        <a:t>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/>
                        <a:t>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/>
                        <a:t>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/>
                        <a:t>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/>
                        <a:t>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/>
                        <a:t>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/>
                        <a:t>S/C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/>
                        <a:t>R/L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/>
                        <a:t>-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/>
                        <a:t>-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/>
                        <a:t>37us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</a:tr>
              <a:tr h="3034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/>
                        <a:t>6. Function set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/>
                        <a:t>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/>
                        <a:t>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/>
                        <a:t>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/>
                        <a:t>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/>
                        <a:t>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/>
                        <a:t>DL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/>
                        <a:t>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/>
                        <a:t>F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/>
                        <a:t>-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/>
                        <a:t>-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/>
                        <a:t>37us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</a:tr>
              <a:tr h="3034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/>
                        <a:t>7. Set CG RAM address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/>
                        <a:t>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/>
                        <a:t>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/>
                        <a:t>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/>
                        <a:t>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/>
                        <a:t>CG RAM address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/>
                        <a:t>37us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</a:tr>
              <a:tr h="3034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/>
                        <a:t>8. Set DD RAM address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/>
                        <a:t>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/>
                        <a:t>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/>
                        <a:t>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 gridSpan="7"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/>
                        <a:t>DD RAM address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/>
                        <a:t>37us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</a:tr>
              <a:tr h="3034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/>
                        <a:t>9. Read busy flag and address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/>
                        <a:t>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/>
                        <a:t>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/>
                        <a:t>BF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 gridSpan="7"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/>
                        <a:t>Address Counter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/>
                        <a:t>0us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</a:tr>
              <a:tr h="3034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/>
                        <a:t>Data write to CG RAM or DD RAM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/>
                        <a:t>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/>
                        <a:t>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/>
                        <a:t>Write Data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/>
                        <a:t>41us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</a:tr>
              <a:tr h="31728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/>
                        <a:t>Data write to CG RAM or DD RAM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/>
                        <a:t>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/>
                        <a:t>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/>
                        <a:t>Read Data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/>
                        <a:t>41us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7893" marR="7893" marT="7893" marB="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altLang="ko-KR" dirty="0" smtClean="0"/>
              <a:t>LCD </a:t>
            </a:r>
            <a:r>
              <a:rPr lang="ko-KR" altLang="en-US" dirty="0" smtClean="0"/>
              <a:t>초기화 순서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633222" indent="-514350">
              <a:lnSpc>
                <a:spcPct val="170000"/>
              </a:lnSpc>
              <a:buFont typeface="+mj-lt"/>
              <a:buAutoNum type="arabicPeriod"/>
            </a:pPr>
            <a:r>
              <a:rPr lang="ko-KR" altLang="en-US" dirty="0" smtClean="0"/>
              <a:t>제어명령을 보내고 </a:t>
            </a:r>
            <a:r>
              <a:rPr lang="en-US" altLang="ko-KR" dirty="0" smtClean="0"/>
              <a:t>4.1ms</a:t>
            </a:r>
            <a:r>
              <a:rPr lang="ko-KR" altLang="en-US" dirty="0" smtClean="0"/>
              <a:t>이상 기다린다</a:t>
            </a:r>
            <a:r>
              <a:rPr lang="en-US" altLang="ko-KR" dirty="0" smtClean="0"/>
              <a:t>.</a:t>
            </a:r>
          </a:p>
          <a:p>
            <a:pPr marL="633222" indent="-514350">
              <a:lnSpc>
                <a:spcPct val="170000"/>
              </a:lnSpc>
              <a:buFont typeface="+mj-lt"/>
              <a:buAutoNum type="arabicPeriod"/>
            </a:pPr>
            <a:r>
              <a:rPr lang="ko-KR" altLang="en-US" dirty="0" smtClean="0"/>
              <a:t>제어명령을 보내고 </a:t>
            </a:r>
            <a:r>
              <a:rPr lang="en-US" altLang="ko-KR" dirty="0" smtClean="0"/>
              <a:t>100us</a:t>
            </a:r>
            <a:r>
              <a:rPr lang="ko-KR" altLang="en-US" dirty="0" smtClean="0"/>
              <a:t>이상 기다린다</a:t>
            </a:r>
            <a:r>
              <a:rPr lang="en-US" altLang="ko-KR" dirty="0" smtClean="0"/>
              <a:t>.</a:t>
            </a:r>
          </a:p>
          <a:p>
            <a:pPr marL="633222" indent="-514350">
              <a:lnSpc>
                <a:spcPct val="170000"/>
              </a:lnSpc>
              <a:buFont typeface="+mj-lt"/>
              <a:buAutoNum type="arabicPeriod"/>
            </a:pPr>
            <a:r>
              <a:rPr lang="ko-KR" altLang="en-US" dirty="0" smtClean="0"/>
              <a:t>먼저 </a:t>
            </a:r>
            <a:r>
              <a:rPr lang="en-US" altLang="ko-KR" dirty="0" smtClean="0"/>
              <a:t>display option</a:t>
            </a:r>
            <a:r>
              <a:rPr lang="ko-KR" altLang="en-US" dirty="0" smtClean="0"/>
              <a:t>을 설정한다</a:t>
            </a:r>
            <a:r>
              <a:rPr lang="en-US" altLang="ko-KR" dirty="0" smtClean="0"/>
              <a:t>.</a:t>
            </a:r>
          </a:p>
          <a:p>
            <a:pPr marL="633222" indent="-514350">
              <a:lnSpc>
                <a:spcPct val="170000"/>
              </a:lnSpc>
              <a:buFont typeface="+mj-lt"/>
              <a:buAutoNum type="arabicPeriod"/>
            </a:pPr>
            <a:r>
              <a:rPr lang="en-US" altLang="ko-KR" dirty="0" smtClean="0"/>
              <a:t>LCD</a:t>
            </a:r>
            <a:r>
              <a:rPr lang="ko-KR" altLang="en-US" dirty="0" smtClean="0"/>
              <a:t>화면을 </a:t>
            </a:r>
            <a:r>
              <a:rPr lang="en-US" altLang="ko-KR" dirty="0" smtClean="0"/>
              <a:t>off</a:t>
            </a:r>
            <a:r>
              <a:rPr lang="ko-KR" altLang="en-US" dirty="0" smtClean="0"/>
              <a:t>시킨다</a:t>
            </a:r>
            <a:r>
              <a:rPr lang="en-US" altLang="ko-KR" dirty="0" smtClean="0"/>
              <a:t>.</a:t>
            </a:r>
          </a:p>
          <a:p>
            <a:pPr marL="633222" indent="-514350">
              <a:lnSpc>
                <a:spcPct val="170000"/>
              </a:lnSpc>
              <a:buFont typeface="+mj-lt"/>
              <a:buAutoNum type="arabicPeriod"/>
            </a:pPr>
            <a:r>
              <a:rPr lang="en-US" altLang="ko-KR" dirty="0" smtClean="0"/>
              <a:t>Display </a:t>
            </a:r>
            <a:r>
              <a:rPr lang="ko-KR" altLang="en-US" dirty="0" smtClean="0"/>
              <a:t>되어</a:t>
            </a:r>
            <a:r>
              <a:rPr lang="en-US" altLang="ko-KR" dirty="0" smtClean="0"/>
              <a:t> </a:t>
            </a:r>
            <a:r>
              <a:rPr lang="ko-KR" altLang="en-US" dirty="0" smtClean="0"/>
              <a:t>있는 문자를 지운다</a:t>
            </a:r>
            <a:r>
              <a:rPr lang="en-US" altLang="ko-KR" dirty="0" smtClean="0"/>
              <a:t>.</a:t>
            </a:r>
          </a:p>
          <a:p>
            <a:pPr marL="633222" indent="-514350">
              <a:lnSpc>
                <a:spcPct val="170000"/>
              </a:lnSpc>
              <a:buFont typeface="+mj-lt"/>
              <a:buAutoNum type="arabicPeriod"/>
            </a:pPr>
            <a:r>
              <a:rPr lang="en-US" altLang="ko-KR" dirty="0" smtClean="0"/>
              <a:t>Entry mode</a:t>
            </a:r>
            <a:r>
              <a:rPr lang="ko-KR" altLang="en-US" dirty="0" smtClean="0"/>
              <a:t>를 설정한다</a:t>
            </a:r>
            <a:r>
              <a:rPr lang="en-US" altLang="ko-KR" dirty="0" smtClean="0"/>
              <a:t>.</a:t>
            </a:r>
          </a:p>
          <a:p>
            <a:pPr marL="633222" indent="-514350">
              <a:lnSpc>
                <a:spcPct val="170000"/>
              </a:lnSpc>
              <a:buFont typeface="+mj-lt"/>
              <a:buAutoNum type="arabicPeriod"/>
            </a:pPr>
            <a:r>
              <a:rPr lang="en-US" altLang="ko-KR" dirty="0" smtClean="0"/>
              <a:t>Display </a:t>
            </a:r>
            <a:r>
              <a:rPr lang="ko-KR" altLang="en-US" dirty="0" smtClean="0"/>
              <a:t>형식을 설정한다</a:t>
            </a:r>
            <a:r>
              <a:rPr lang="en-US" altLang="ko-KR" dirty="0" smtClean="0"/>
              <a:t>.</a:t>
            </a:r>
          </a:p>
          <a:p>
            <a:pPr marL="633222" indent="-514350">
              <a:lnSpc>
                <a:spcPct val="170000"/>
              </a:lnSpc>
              <a:buFont typeface="+mj-lt"/>
              <a:buAutoNum type="arabicPeriod"/>
            </a:pPr>
            <a:r>
              <a:rPr lang="en-US" altLang="ko-KR" dirty="0" smtClean="0"/>
              <a:t>Display Data RAM</a:t>
            </a:r>
            <a:r>
              <a:rPr lang="ko-KR" altLang="en-US" dirty="0" smtClean="0"/>
              <a:t>의 주소를 설정한다</a:t>
            </a:r>
            <a:r>
              <a:rPr lang="en-US" altLang="ko-KR" dirty="0" smtClean="0"/>
              <a:t>.</a:t>
            </a:r>
          </a:p>
          <a:p>
            <a:pPr marL="633222" indent="-514350">
              <a:lnSpc>
                <a:spcPct val="170000"/>
              </a:lnSpc>
              <a:buFont typeface="+mj-lt"/>
              <a:buAutoNum type="arabicPeriod"/>
            </a:pPr>
            <a:r>
              <a:rPr lang="ko-KR" altLang="en-US" dirty="0" smtClean="0"/>
              <a:t>화면에 표시하고자 하는 문자의 코드를 넣어준다</a:t>
            </a:r>
            <a:r>
              <a:rPr lang="en-US" altLang="ko-KR" dirty="0" smtClean="0"/>
              <a:t>.</a:t>
            </a:r>
          </a:p>
          <a:p>
            <a:pPr marL="633222" indent="-514350">
              <a:lnSpc>
                <a:spcPct val="170000"/>
              </a:lnSpc>
              <a:buFont typeface="+mj-lt"/>
              <a:buAutoNum type="arabicPeriod"/>
            </a:pPr>
            <a:r>
              <a:rPr lang="en-US" altLang="ko-KR" dirty="0" smtClean="0"/>
              <a:t>DELAY -&gt; FUNCTION_SET  -&gt; DISP_ONOFF  -&gt; ENTRY_MODE  -&gt; LINE1 -&gt; LINE2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/>
          <p:cNvSpPr>
            <a:spLocks noGrp="1"/>
          </p:cNvSpPr>
          <p:nvPr>
            <p:ph sz="half" idx="4294967295"/>
          </p:nvPr>
        </p:nvSpPr>
        <p:spPr>
          <a:xfrm>
            <a:off x="4643438" y="500063"/>
            <a:ext cx="4500562" cy="6286500"/>
          </a:xfrm>
          <a:ln>
            <a:solidFill>
              <a:schemeClr val="accent1">
                <a:shade val="50000"/>
              </a:schemeClr>
            </a:solidFill>
          </a:ln>
        </p:spPr>
        <p:txBody>
          <a:bodyPr>
            <a:normAutofit fontScale="25000" lnSpcReduction="20000"/>
          </a:bodyPr>
          <a:lstStyle/>
          <a:p>
            <a:pPr>
              <a:buNone/>
            </a:pPr>
            <a:r>
              <a:rPr lang="en-US" altLang="ko-KR" sz="4000" dirty="0" smtClean="0"/>
              <a:t>void </a:t>
            </a:r>
            <a:r>
              <a:rPr lang="en-US" altLang="ko-KR" sz="4000" dirty="0" err="1" smtClean="0"/>
              <a:t>init_lcd</a:t>
            </a:r>
            <a:r>
              <a:rPr lang="en-US" altLang="ko-KR" sz="4000" dirty="0" smtClean="0"/>
              <a:t>(void)</a:t>
            </a:r>
          </a:p>
          <a:p>
            <a:pPr>
              <a:buNone/>
            </a:pPr>
            <a:r>
              <a:rPr lang="en-US" altLang="ko-KR" sz="4000" dirty="0" smtClean="0"/>
              <a:t>{</a:t>
            </a:r>
          </a:p>
          <a:p>
            <a:pPr>
              <a:buNone/>
            </a:pPr>
            <a:r>
              <a:rPr lang="en-US" altLang="ko-KR" sz="4000" dirty="0" smtClean="0"/>
              <a:t>	</a:t>
            </a:r>
            <a:r>
              <a:rPr lang="en-US" altLang="ko-KR" sz="4000" dirty="0" err="1" smtClean="0"/>
              <a:t>lcd_write</a:t>
            </a:r>
            <a:r>
              <a:rPr lang="en-US" altLang="ko-KR" sz="4000" dirty="0" smtClean="0"/>
              <a:t>(0, 0x38);	//</a:t>
            </a:r>
            <a:r>
              <a:rPr lang="ko-KR" altLang="en-US" sz="4000" dirty="0" smtClean="0"/>
              <a:t>디스플레이설정</a:t>
            </a:r>
          </a:p>
          <a:p>
            <a:pPr>
              <a:buNone/>
            </a:pPr>
            <a:r>
              <a:rPr lang="ko-KR" altLang="en-US" sz="4000" dirty="0" smtClean="0"/>
              <a:t>	</a:t>
            </a:r>
            <a:r>
              <a:rPr lang="en-US" altLang="ko-KR" sz="4000" dirty="0" err="1" smtClean="0"/>
              <a:t>delayy</a:t>
            </a:r>
            <a:r>
              <a:rPr lang="en-US" altLang="ko-KR" sz="4000" dirty="0" smtClean="0"/>
              <a:t>(50);</a:t>
            </a:r>
          </a:p>
          <a:p>
            <a:pPr>
              <a:buNone/>
            </a:pPr>
            <a:r>
              <a:rPr lang="en-US" altLang="ko-KR" sz="4000" dirty="0" smtClean="0"/>
              <a:t>	</a:t>
            </a:r>
            <a:r>
              <a:rPr lang="en-US" altLang="ko-KR" sz="4000" dirty="0" err="1" smtClean="0"/>
              <a:t>lcd_write</a:t>
            </a:r>
            <a:r>
              <a:rPr lang="en-US" altLang="ko-KR" sz="4000" dirty="0" smtClean="0"/>
              <a:t>(0, 0x38);	//</a:t>
            </a:r>
            <a:r>
              <a:rPr lang="ko-KR" altLang="en-US" sz="4000" dirty="0" smtClean="0"/>
              <a:t>디스플레이설정</a:t>
            </a:r>
          </a:p>
          <a:p>
            <a:pPr>
              <a:buNone/>
            </a:pPr>
            <a:r>
              <a:rPr lang="ko-KR" altLang="en-US" sz="4000" dirty="0" smtClean="0"/>
              <a:t>	</a:t>
            </a:r>
            <a:r>
              <a:rPr lang="en-US" altLang="ko-KR" sz="4000" dirty="0" err="1" smtClean="0"/>
              <a:t>delayy</a:t>
            </a:r>
            <a:r>
              <a:rPr lang="en-US" altLang="ko-KR" sz="4000" dirty="0" smtClean="0"/>
              <a:t>(50);</a:t>
            </a:r>
          </a:p>
          <a:p>
            <a:pPr>
              <a:buNone/>
            </a:pPr>
            <a:r>
              <a:rPr lang="en-US" altLang="ko-KR" sz="4000" dirty="0" smtClean="0"/>
              <a:t>	</a:t>
            </a:r>
            <a:r>
              <a:rPr lang="en-US" altLang="ko-KR" sz="4000" dirty="0" err="1" smtClean="0"/>
              <a:t>lcd_write</a:t>
            </a:r>
            <a:r>
              <a:rPr lang="en-US" altLang="ko-KR" sz="4000" dirty="0" smtClean="0"/>
              <a:t>(0, 0x38);	//</a:t>
            </a:r>
            <a:r>
              <a:rPr lang="ko-KR" altLang="en-US" sz="4000" dirty="0" smtClean="0"/>
              <a:t>디스플레이설정</a:t>
            </a:r>
          </a:p>
          <a:p>
            <a:pPr>
              <a:buNone/>
            </a:pPr>
            <a:r>
              <a:rPr lang="ko-KR" altLang="en-US" sz="4000" dirty="0" smtClean="0"/>
              <a:t>	</a:t>
            </a:r>
            <a:r>
              <a:rPr lang="en-US" altLang="ko-KR" sz="4000" dirty="0" err="1" smtClean="0"/>
              <a:t>delayy</a:t>
            </a:r>
            <a:r>
              <a:rPr lang="en-US" altLang="ko-KR" sz="4000" dirty="0" smtClean="0"/>
              <a:t>(50);</a:t>
            </a:r>
          </a:p>
          <a:p>
            <a:pPr>
              <a:buNone/>
            </a:pPr>
            <a:r>
              <a:rPr lang="en-US" altLang="ko-KR" sz="4000" dirty="0" smtClean="0"/>
              <a:t>	</a:t>
            </a:r>
            <a:r>
              <a:rPr lang="en-US" altLang="ko-KR" sz="4000" dirty="0" err="1" smtClean="0"/>
              <a:t>lcd_write</a:t>
            </a:r>
            <a:r>
              <a:rPr lang="en-US" altLang="ko-KR" sz="4000" dirty="0" smtClean="0"/>
              <a:t>(0, 0x0c);	//</a:t>
            </a:r>
            <a:r>
              <a:rPr lang="ko-KR" altLang="en-US" sz="4000" dirty="0" err="1" smtClean="0"/>
              <a:t>디스플레이온</a:t>
            </a:r>
            <a:endParaRPr lang="ko-KR" altLang="en-US" sz="4000" dirty="0" smtClean="0"/>
          </a:p>
          <a:p>
            <a:pPr>
              <a:buNone/>
            </a:pPr>
            <a:r>
              <a:rPr lang="ko-KR" altLang="en-US" sz="4000" dirty="0" smtClean="0"/>
              <a:t>	</a:t>
            </a:r>
            <a:r>
              <a:rPr lang="en-US" altLang="ko-KR" sz="4000" dirty="0" err="1" smtClean="0"/>
              <a:t>delayy</a:t>
            </a:r>
            <a:r>
              <a:rPr lang="en-US" altLang="ko-KR" sz="4000" dirty="0" smtClean="0"/>
              <a:t>(50);</a:t>
            </a:r>
          </a:p>
          <a:p>
            <a:pPr>
              <a:buNone/>
            </a:pPr>
            <a:r>
              <a:rPr lang="en-US" altLang="ko-KR" sz="4000" dirty="0" smtClean="0"/>
              <a:t>	</a:t>
            </a:r>
            <a:r>
              <a:rPr lang="en-US" altLang="ko-KR" sz="4000" dirty="0" err="1" smtClean="0"/>
              <a:t>lcd_write</a:t>
            </a:r>
            <a:r>
              <a:rPr lang="en-US" altLang="ko-KR" sz="4000" dirty="0" smtClean="0"/>
              <a:t>(0, 0x02);	//</a:t>
            </a:r>
            <a:r>
              <a:rPr lang="ko-KR" altLang="en-US" sz="4000" dirty="0" err="1" smtClean="0"/>
              <a:t>커서홈</a:t>
            </a:r>
            <a:endParaRPr lang="ko-KR" altLang="en-US" sz="4000" dirty="0" smtClean="0"/>
          </a:p>
          <a:p>
            <a:pPr>
              <a:buNone/>
            </a:pPr>
            <a:r>
              <a:rPr lang="ko-KR" altLang="en-US" sz="4000" dirty="0" smtClean="0"/>
              <a:t>	</a:t>
            </a:r>
            <a:r>
              <a:rPr lang="en-US" altLang="ko-KR" sz="4000" dirty="0" err="1" smtClean="0"/>
              <a:t>delayy</a:t>
            </a:r>
            <a:r>
              <a:rPr lang="en-US" altLang="ko-KR" sz="4000" dirty="0" smtClean="0"/>
              <a:t>(50);</a:t>
            </a:r>
          </a:p>
          <a:p>
            <a:pPr>
              <a:buNone/>
            </a:pPr>
            <a:r>
              <a:rPr lang="en-US" altLang="ko-KR" sz="4000" dirty="0" smtClean="0"/>
              <a:t>	</a:t>
            </a:r>
            <a:r>
              <a:rPr lang="en-US" altLang="ko-KR" sz="4000" dirty="0" err="1" smtClean="0"/>
              <a:t>lcd_write</a:t>
            </a:r>
            <a:r>
              <a:rPr lang="en-US" altLang="ko-KR" sz="4000" dirty="0" smtClean="0"/>
              <a:t>(0, 0x01);	// Clear</a:t>
            </a:r>
          </a:p>
          <a:p>
            <a:pPr>
              <a:buNone/>
            </a:pPr>
            <a:r>
              <a:rPr lang="en-US" altLang="ko-KR" sz="4000" dirty="0" smtClean="0"/>
              <a:t>	</a:t>
            </a:r>
            <a:r>
              <a:rPr lang="en-US" altLang="ko-KR" sz="4000" dirty="0" err="1" smtClean="0"/>
              <a:t>delayy</a:t>
            </a:r>
            <a:r>
              <a:rPr lang="en-US" altLang="ko-KR" sz="4000" dirty="0" smtClean="0"/>
              <a:t>(50);</a:t>
            </a:r>
          </a:p>
          <a:p>
            <a:pPr>
              <a:buNone/>
            </a:pPr>
            <a:r>
              <a:rPr lang="en-US" altLang="ko-KR" sz="4000" dirty="0" smtClean="0"/>
              <a:t>	</a:t>
            </a:r>
            <a:r>
              <a:rPr lang="en-US" altLang="ko-KR" sz="4000" dirty="0" err="1" smtClean="0"/>
              <a:t>lcd_write</a:t>
            </a:r>
            <a:r>
              <a:rPr lang="en-US" altLang="ko-KR" sz="4000" dirty="0" smtClean="0"/>
              <a:t>(0, 0x80);	//</a:t>
            </a:r>
            <a:r>
              <a:rPr lang="ko-KR" altLang="en-US" sz="4000" dirty="0" smtClean="0"/>
              <a:t>어드레스설정</a:t>
            </a:r>
          </a:p>
          <a:p>
            <a:pPr>
              <a:buNone/>
            </a:pPr>
            <a:r>
              <a:rPr lang="ko-KR" altLang="en-US" sz="4000" dirty="0" smtClean="0"/>
              <a:t>	</a:t>
            </a:r>
            <a:r>
              <a:rPr lang="en-US" altLang="ko-KR" sz="4000" dirty="0" err="1" smtClean="0"/>
              <a:t>delayy</a:t>
            </a:r>
            <a:r>
              <a:rPr lang="en-US" altLang="ko-KR" sz="4000" dirty="0" smtClean="0"/>
              <a:t>(50);</a:t>
            </a:r>
          </a:p>
          <a:p>
            <a:pPr>
              <a:buNone/>
            </a:pPr>
            <a:r>
              <a:rPr lang="en-US" altLang="ko-KR" sz="4000" dirty="0" smtClean="0"/>
              <a:t>}     </a:t>
            </a:r>
          </a:p>
          <a:p>
            <a:pPr>
              <a:buNone/>
            </a:pPr>
            <a:r>
              <a:rPr lang="en-US" altLang="ko-KR" sz="4000" dirty="0" smtClean="0"/>
              <a:t>/************** END LCD </a:t>
            </a:r>
            <a:r>
              <a:rPr lang="ko-KR" altLang="en-US" sz="4000" dirty="0" smtClean="0"/>
              <a:t>관련모듈 ***************</a:t>
            </a:r>
            <a:r>
              <a:rPr lang="en-US" altLang="ko-KR" sz="4000" dirty="0" smtClean="0"/>
              <a:t>/</a:t>
            </a:r>
          </a:p>
          <a:p>
            <a:pPr>
              <a:buNone/>
            </a:pPr>
            <a:r>
              <a:rPr lang="en-US" altLang="ko-KR" sz="4000" dirty="0" smtClean="0"/>
              <a:t>void </a:t>
            </a:r>
            <a:r>
              <a:rPr lang="en-US" altLang="ko-KR" sz="4000" dirty="0" err="1" smtClean="0"/>
              <a:t>init_port</a:t>
            </a:r>
            <a:r>
              <a:rPr lang="en-US" altLang="ko-KR" sz="4000" dirty="0" smtClean="0"/>
              <a:t>(void)</a:t>
            </a:r>
          </a:p>
          <a:p>
            <a:pPr>
              <a:buNone/>
            </a:pPr>
            <a:r>
              <a:rPr lang="en-US" altLang="ko-KR" sz="4000" dirty="0" smtClean="0"/>
              <a:t>{	</a:t>
            </a:r>
          </a:p>
          <a:p>
            <a:pPr>
              <a:buNone/>
            </a:pPr>
            <a:r>
              <a:rPr lang="en-US" altLang="ko-KR" sz="4000" dirty="0" smtClean="0"/>
              <a:t>   	DDRC=0xff;</a:t>
            </a:r>
          </a:p>
          <a:p>
            <a:pPr>
              <a:buNone/>
            </a:pPr>
            <a:r>
              <a:rPr lang="en-US" altLang="ko-KR" sz="4000" dirty="0" smtClean="0"/>
              <a:t>	PORTC=0xff;</a:t>
            </a:r>
          </a:p>
          <a:p>
            <a:pPr>
              <a:buNone/>
            </a:pPr>
            <a:r>
              <a:rPr lang="en-US" altLang="ko-KR" sz="4000" dirty="0" smtClean="0"/>
              <a:t>	DDRA=0x86; </a:t>
            </a:r>
          </a:p>
          <a:p>
            <a:pPr>
              <a:buNone/>
            </a:pPr>
            <a:r>
              <a:rPr lang="en-US" altLang="ko-KR" sz="4000" dirty="0" smtClean="0"/>
              <a:t>	PORTA=0xff;	</a:t>
            </a:r>
          </a:p>
          <a:p>
            <a:pPr>
              <a:buNone/>
            </a:pPr>
            <a:r>
              <a:rPr lang="en-US" altLang="ko-KR" sz="4000" dirty="0" smtClean="0"/>
              <a:t>}</a:t>
            </a:r>
          </a:p>
          <a:p>
            <a:pPr>
              <a:buNone/>
            </a:pPr>
            <a:r>
              <a:rPr lang="en-US" altLang="ko-KR" sz="4000" dirty="0" smtClean="0"/>
              <a:t>void main(void)</a:t>
            </a:r>
          </a:p>
          <a:p>
            <a:pPr>
              <a:buNone/>
            </a:pPr>
            <a:r>
              <a:rPr lang="en-US" altLang="ko-KR" sz="4000" dirty="0" smtClean="0"/>
              <a:t>{ </a:t>
            </a:r>
          </a:p>
          <a:p>
            <a:pPr>
              <a:buNone/>
            </a:pPr>
            <a:r>
              <a:rPr lang="en-US" altLang="ko-KR" sz="4000" dirty="0" smtClean="0"/>
              <a:t>	</a:t>
            </a:r>
            <a:r>
              <a:rPr lang="en-US" altLang="ko-KR" sz="4000" dirty="0" err="1" smtClean="0"/>
              <a:t>init_port</a:t>
            </a:r>
            <a:r>
              <a:rPr lang="en-US" altLang="ko-KR" sz="4000" dirty="0" smtClean="0"/>
              <a:t>();</a:t>
            </a:r>
          </a:p>
          <a:p>
            <a:pPr>
              <a:buNone/>
            </a:pPr>
            <a:r>
              <a:rPr lang="en-US" altLang="ko-KR" sz="4000" dirty="0" smtClean="0"/>
              <a:t>	</a:t>
            </a:r>
            <a:r>
              <a:rPr lang="en-US" altLang="ko-KR" sz="4000" dirty="0" err="1" smtClean="0"/>
              <a:t>init_lcd</a:t>
            </a:r>
            <a:r>
              <a:rPr lang="en-US" altLang="ko-KR" sz="4000" dirty="0" smtClean="0"/>
              <a:t>();</a:t>
            </a:r>
          </a:p>
          <a:p>
            <a:pPr>
              <a:buNone/>
            </a:pPr>
            <a:r>
              <a:rPr lang="en-US" altLang="ko-KR" sz="4000" dirty="0" smtClean="0"/>
              <a:t>	</a:t>
            </a:r>
            <a:r>
              <a:rPr lang="en-US" altLang="ko-KR" sz="4000" dirty="0" err="1" smtClean="0"/>
              <a:t>lcd_clear</a:t>
            </a:r>
            <a:r>
              <a:rPr lang="en-US" altLang="ko-KR" sz="4000" dirty="0" smtClean="0"/>
              <a:t>();</a:t>
            </a:r>
          </a:p>
          <a:p>
            <a:pPr>
              <a:buNone/>
            </a:pPr>
            <a:endParaRPr lang="en-US" altLang="ko-KR" sz="4000" dirty="0" smtClean="0"/>
          </a:p>
          <a:p>
            <a:pPr>
              <a:buNone/>
            </a:pPr>
            <a:r>
              <a:rPr lang="en-US" altLang="ko-KR" sz="4000" dirty="0" smtClean="0"/>
              <a:t>	</a:t>
            </a:r>
            <a:r>
              <a:rPr lang="en-US" altLang="ko-KR" sz="4000" dirty="0" err="1" smtClean="0"/>
              <a:t>cputs</a:t>
            </a:r>
            <a:r>
              <a:rPr lang="en-US" altLang="ko-KR" sz="4000" dirty="0" smtClean="0"/>
              <a:t>(" Seoul ");</a:t>
            </a:r>
          </a:p>
          <a:p>
            <a:pPr>
              <a:buNone/>
            </a:pPr>
            <a:endParaRPr lang="en-US" altLang="ko-KR" sz="4000" dirty="0" smtClean="0"/>
          </a:p>
          <a:p>
            <a:pPr>
              <a:buNone/>
            </a:pPr>
            <a:r>
              <a:rPr lang="en-US" altLang="ko-KR" sz="4000" dirty="0" smtClean="0"/>
              <a:t>	 // 2</a:t>
            </a:r>
            <a:r>
              <a:rPr lang="ko-KR" altLang="en-US" sz="4000" dirty="0" smtClean="0"/>
              <a:t>라인으로</a:t>
            </a:r>
          </a:p>
          <a:p>
            <a:pPr>
              <a:buNone/>
            </a:pPr>
            <a:r>
              <a:rPr lang="ko-KR" altLang="en-US" sz="4000" dirty="0" smtClean="0"/>
              <a:t>	</a:t>
            </a:r>
            <a:r>
              <a:rPr lang="en-US" altLang="ko-KR" sz="4000" dirty="0" err="1" smtClean="0"/>
              <a:t>lcd_write</a:t>
            </a:r>
            <a:r>
              <a:rPr lang="en-US" altLang="ko-KR" sz="4000" dirty="0" smtClean="0"/>
              <a:t>(0, 0x80 + 0x40); </a:t>
            </a:r>
          </a:p>
          <a:p>
            <a:pPr>
              <a:buNone/>
            </a:pPr>
            <a:r>
              <a:rPr lang="en-US" altLang="ko-KR" sz="4000" dirty="0" smtClean="0"/>
              <a:t>	</a:t>
            </a:r>
            <a:r>
              <a:rPr lang="en-US" altLang="ko-KR" sz="4000" dirty="0" err="1" smtClean="0"/>
              <a:t>delayy</a:t>
            </a:r>
            <a:r>
              <a:rPr lang="en-US" altLang="ko-KR" sz="4000" dirty="0" smtClean="0"/>
              <a:t>(50);</a:t>
            </a:r>
          </a:p>
          <a:p>
            <a:pPr>
              <a:buNone/>
            </a:pPr>
            <a:r>
              <a:rPr lang="en-US" altLang="ko-KR" sz="4000" dirty="0" smtClean="0"/>
              <a:t>	</a:t>
            </a:r>
            <a:r>
              <a:rPr lang="en-US" altLang="ko-KR" sz="4000" dirty="0" err="1" smtClean="0"/>
              <a:t>cputs</a:t>
            </a:r>
            <a:r>
              <a:rPr lang="en-US" altLang="ko-KR" sz="4000" dirty="0" smtClean="0"/>
              <a:t>(" </a:t>
            </a:r>
            <a:r>
              <a:rPr lang="en-US" altLang="ko-KR" sz="4000" dirty="0" err="1" smtClean="0"/>
              <a:t>BuSan</a:t>
            </a:r>
            <a:r>
              <a:rPr lang="en-US" altLang="ko-KR" sz="4000" dirty="0" smtClean="0"/>
              <a:t> ");</a:t>
            </a:r>
          </a:p>
          <a:p>
            <a:pPr>
              <a:buNone/>
            </a:pPr>
            <a:r>
              <a:rPr lang="en-US" altLang="ko-KR" sz="4000" dirty="0" smtClean="0"/>
              <a:t>	</a:t>
            </a:r>
            <a:r>
              <a:rPr lang="en-US" altLang="ko-KR" sz="4000" dirty="0" err="1" smtClean="0"/>
              <a:t>delayy</a:t>
            </a:r>
            <a:r>
              <a:rPr lang="en-US" altLang="ko-KR" sz="4000" dirty="0" smtClean="0"/>
              <a:t>(10);</a:t>
            </a:r>
          </a:p>
          <a:p>
            <a:pPr>
              <a:buNone/>
            </a:pPr>
            <a:r>
              <a:rPr lang="en-US" altLang="ko-KR" sz="4000" dirty="0" smtClean="0"/>
              <a:t>	 // 3</a:t>
            </a:r>
            <a:r>
              <a:rPr lang="ko-KR" altLang="en-US" sz="4000" dirty="0" smtClean="0"/>
              <a:t>라인으로</a:t>
            </a:r>
          </a:p>
          <a:p>
            <a:pPr>
              <a:buNone/>
            </a:pPr>
            <a:r>
              <a:rPr lang="ko-KR" altLang="en-US" sz="4000" dirty="0" smtClean="0"/>
              <a:t>	</a:t>
            </a:r>
            <a:r>
              <a:rPr lang="en-US" altLang="ko-KR" sz="4000" dirty="0" err="1" smtClean="0"/>
              <a:t>lcd_write</a:t>
            </a:r>
            <a:r>
              <a:rPr lang="en-US" altLang="ko-KR" sz="4000" dirty="0" smtClean="0"/>
              <a:t>(0, 0x80 + 0x10); </a:t>
            </a:r>
          </a:p>
          <a:p>
            <a:pPr>
              <a:buNone/>
            </a:pPr>
            <a:r>
              <a:rPr lang="en-US" altLang="ko-KR" sz="4000" dirty="0" smtClean="0"/>
              <a:t>	</a:t>
            </a:r>
            <a:r>
              <a:rPr lang="en-US" altLang="ko-KR" sz="4000" dirty="0" err="1" smtClean="0"/>
              <a:t>delayy</a:t>
            </a:r>
            <a:r>
              <a:rPr lang="en-US" altLang="ko-KR" sz="4000" dirty="0" smtClean="0"/>
              <a:t>(50);</a:t>
            </a:r>
          </a:p>
          <a:p>
            <a:pPr>
              <a:buNone/>
            </a:pPr>
            <a:r>
              <a:rPr lang="en-US" altLang="ko-KR" sz="4000" dirty="0" smtClean="0"/>
              <a:t>	</a:t>
            </a:r>
            <a:r>
              <a:rPr lang="en-US" altLang="ko-KR" sz="4000" dirty="0" err="1" smtClean="0"/>
              <a:t>cputs</a:t>
            </a:r>
            <a:r>
              <a:rPr lang="en-US" altLang="ko-KR" sz="4000" dirty="0" smtClean="0"/>
              <a:t>(" </a:t>
            </a:r>
            <a:r>
              <a:rPr lang="en-US" altLang="ko-KR" sz="4000" dirty="0" err="1" smtClean="0"/>
              <a:t>Anseong</a:t>
            </a:r>
            <a:r>
              <a:rPr lang="en-US" altLang="ko-KR" sz="4000" dirty="0" smtClean="0"/>
              <a:t> ");</a:t>
            </a:r>
          </a:p>
          <a:p>
            <a:pPr>
              <a:buNone/>
            </a:pPr>
            <a:r>
              <a:rPr lang="en-US" altLang="ko-KR" sz="4000" dirty="0" smtClean="0"/>
              <a:t>	</a:t>
            </a:r>
            <a:r>
              <a:rPr lang="en-US" altLang="ko-KR" sz="4000" dirty="0" err="1" smtClean="0"/>
              <a:t>delayy</a:t>
            </a:r>
            <a:r>
              <a:rPr lang="en-US" altLang="ko-KR" sz="4000" dirty="0" smtClean="0"/>
              <a:t>(10);</a:t>
            </a:r>
          </a:p>
          <a:p>
            <a:pPr>
              <a:buNone/>
            </a:pPr>
            <a:r>
              <a:rPr lang="en-US" altLang="ko-KR" sz="4000" dirty="0" smtClean="0"/>
              <a:t>	  // 4</a:t>
            </a:r>
            <a:r>
              <a:rPr lang="ko-KR" altLang="en-US" sz="4000" dirty="0" smtClean="0"/>
              <a:t>라인으로</a:t>
            </a:r>
          </a:p>
          <a:p>
            <a:pPr>
              <a:buNone/>
            </a:pPr>
            <a:r>
              <a:rPr lang="ko-KR" altLang="en-US" sz="4000" dirty="0" smtClean="0"/>
              <a:t>	</a:t>
            </a:r>
            <a:r>
              <a:rPr lang="en-US" altLang="ko-KR" sz="4000" dirty="0" err="1" smtClean="0"/>
              <a:t>lcd_write</a:t>
            </a:r>
            <a:r>
              <a:rPr lang="en-US" altLang="ko-KR" sz="4000" dirty="0" smtClean="0"/>
              <a:t>(0, 0x80 + 0x50); </a:t>
            </a:r>
          </a:p>
          <a:p>
            <a:pPr>
              <a:buNone/>
            </a:pPr>
            <a:r>
              <a:rPr lang="en-US" altLang="ko-KR" sz="4000" dirty="0" smtClean="0"/>
              <a:t>	</a:t>
            </a:r>
            <a:r>
              <a:rPr lang="en-US" altLang="ko-KR" sz="4000" dirty="0" err="1" smtClean="0"/>
              <a:t>delayy</a:t>
            </a:r>
            <a:r>
              <a:rPr lang="en-US" altLang="ko-KR" sz="4000" dirty="0" smtClean="0"/>
              <a:t>(50);</a:t>
            </a:r>
          </a:p>
          <a:p>
            <a:pPr>
              <a:buNone/>
            </a:pPr>
            <a:r>
              <a:rPr lang="en-US" altLang="ko-KR" sz="4000" dirty="0" smtClean="0"/>
              <a:t>	</a:t>
            </a:r>
            <a:r>
              <a:rPr lang="en-US" altLang="ko-KR" sz="4000" dirty="0" err="1" smtClean="0"/>
              <a:t>cputs</a:t>
            </a:r>
            <a:r>
              <a:rPr lang="en-US" altLang="ko-KR" sz="4000" dirty="0" smtClean="0"/>
              <a:t>(" </a:t>
            </a:r>
            <a:r>
              <a:rPr lang="en-US" altLang="ko-KR" sz="4000" dirty="0" err="1" smtClean="0"/>
              <a:t>DooWon</a:t>
            </a:r>
            <a:r>
              <a:rPr lang="en-US" altLang="ko-KR" sz="4000" dirty="0" smtClean="0"/>
              <a:t> ");</a:t>
            </a:r>
          </a:p>
          <a:p>
            <a:pPr>
              <a:buNone/>
            </a:pPr>
            <a:r>
              <a:rPr lang="en-US" altLang="ko-KR" sz="4000" dirty="0" smtClean="0"/>
              <a:t>	</a:t>
            </a:r>
            <a:r>
              <a:rPr lang="en-US" altLang="ko-KR" sz="4000" dirty="0" err="1" smtClean="0"/>
              <a:t>delayy</a:t>
            </a:r>
            <a:r>
              <a:rPr lang="en-US" altLang="ko-KR" sz="4000" dirty="0" smtClean="0"/>
              <a:t>(10);</a:t>
            </a:r>
          </a:p>
          <a:p>
            <a:pPr>
              <a:buNone/>
            </a:pPr>
            <a:endParaRPr lang="en-US" altLang="ko-KR" sz="4000" dirty="0" smtClean="0"/>
          </a:p>
          <a:p>
            <a:pPr>
              <a:buNone/>
            </a:pPr>
            <a:r>
              <a:rPr lang="en-US" altLang="ko-KR" sz="4000" dirty="0" smtClean="0"/>
              <a:t>	for (;;) {}</a:t>
            </a:r>
          </a:p>
          <a:p>
            <a:pPr>
              <a:buNone/>
            </a:pPr>
            <a:r>
              <a:rPr lang="en-US" altLang="ko-KR" sz="4000" dirty="0" smtClean="0"/>
              <a:t>}</a:t>
            </a:r>
          </a:p>
          <a:p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4294967295"/>
          </p:nvPr>
        </p:nvSpPr>
        <p:spPr>
          <a:xfrm>
            <a:off x="0" y="500063"/>
            <a:ext cx="4429125" cy="6286500"/>
          </a:xfrm>
          <a:ln>
            <a:solidFill>
              <a:schemeClr val="accent1">
                <a:shade val="50000"/>
              </a:schemeClr>
            </a:solidFill>
          </a:ln>
        </p:spPr>
        <p:txBody>
          <a:bodyPr>
            <a:normAutofit fontScale="25000" lnSpcReduction="20000"/>
          </a:bodyPr>
          <a:lstStyle/>
          <a:p>
            <a:pPr>
              <a:buNone/>
            </a:pPr>
            <a:r>
              <a:rPr lang="en-US" altLang="ko-KR" sz="3600" dirty="0" smtClean="0"/>
              <a:t>#include &lt;</a:t>
            </a:r>
            <a:r>
              <a:rPr lang="en-US" altLang="ko-KR" sz="3600" dirty="0" err="1" smtClean="0"/>
              <a:t>io.h</a:t>
            </a:r>
            <a:r>
              <a:rPr lang="en-US" altLang="ko-KR" sz="3600" dirty="0" smtClean="0"/>
              <a:t>&gt;</a:t>
            </a:r>
          </a:p>
          <a:p>
            <a:pPr>
              <a:buNone/>
            </a:pPr>
            <a:r>
              <a:rPr lang="en-US" altLang="ko-KR" sz="3600" dirty="0" smtClean="0"/>
              <a:t>#define BYTE unsigned char</a:t>
            </a:r>
          </a:p>
          <a:p>
            <a:pPr>
              <a:buNone/>
            </a:pPr>
            <a:r>
              <a:rPr lang="en-US" altLang="ko-KR" sz="3600" dirty="0" smtClean="0"/>
              <a:t>#define WORD unsigned </a:t>
            </a:r>
            <a:r>
              <a:rPr lang="en-US" altLang="ko-KR" sz="3600" dirty="0" err="1" smtClean="0"/>
              <a:t>int</a:t>
            </a:r>
            <a:endParaRPr lang="en-US" altLang="ko-KR" sz="3600" dirty="0" smtClean="0"/>
          </a:p>
          <a:p>
            <a:pPr>
              <a:buNone/>
            </a:pPr>
            <a:endParaRPr lang="en-US" altLang="ko-KR" sz="3600" dirty="0" smtClean="0"/>
          </a:p>
          <a:p>
            <a:pPr>
              <a:buNone/>
            </a:pPr>
            <a:r>
              <a:rPr lang="en-US" altLang="ko-KR" sz="3600" dirty="0" smtClean="0"/>
              <a:t>#define LCD_DATA(</a:t>
            </a:r>
            <a:r>
              <a:rPr lang="en-US" altLang="ko-KR" sz="3600" dirty="0" err="1" smtClean="0"/>
              <a:t>val</a:t>
            </a:r>
            <a:r>
              <a:rPr lang="en-US" altLang="ko-KR" sz="3600" dirty="0" smtClean="0"/>
              <a:t>)		(PORTC = </a:t>
            </a:r>
            <a:r>
              <a:rPr lang="en-US" altLang="ko-KR" sz="3600" dirty="0" err="1" smtClean="0"/>
              <a:t>val</a:t>
            </a:r>
            <a:r>
              <a:rPr lang="en-US" altLang="ko-KR" sz="3600" dirty="0" smtClean="0"/>
              <a:t>)  //</a:t>
            </a:r>
            <a:r>
              <a:rPr lang="en-US" altLang="ko-KR" sz="3600" dirty="0" err="1" smtClean="0"/>
              <a:t>lcd</a:t>
            </a:r>
            <a:endParaRPr lang="en-US" altLang="ko-KR" sz="3600" dirty="0" smtClean="0"/>
          </a:p>
          <a:p>
            <a:pPr>
              <a:buNone/>
            </a:pPr>
            <a:r>
              <a:rPr lang="en-US" altLang="ko-KR" sz="3600" dirty="0" smtClean="0"/>
              <a:t>#define LCD_DATA_RD		PINC</a:t>
            </a:r>
          </a:p>
          <a:p>
            <a:pPr>
              <a:buNone/>
            </a:pPr>
            <a:r>
              <a:rPr lang="en-US" altLang="ko-KR" sz="3600" dirty="0" smtClean="0"/>
              <a:t>#define IN_LCD_DATA		(DDRC = 0x00)</a:t>
            </a:r>
          </a:p>
          <a:p>
            <a:pPr>
              <a:buNone/>
            </a:pPr>
            <a:r>
              <a:rPr lang="en-US" altLang="ko-KR" sz="3600" dirty="0" smtClean="0"/>
              <a:t>#define OUT_LCD_DATA		(DDRC = 0xff)</a:t>
            </a:r>
          </a:p>
          <a:p>
            <a:pPr>
              <a:buNone/>
            </a:pPr>
            <a:endParaRPr lang="en-US" altLang="ko-KR" sz="3600" dirty="0" smtClean="0"/>
          </a:p>
          <a:p>
            <a:pPr>
              <a:buNone/>
            </a:pPr>
            <a:r>
              <a:rPr lang="en-US" altLang="ko-KR" sz="3600" dirty="0" smtClean="0"/>
              <a:t>#define LO_LCD_RS		(PORTA &amp;= 0xfd) //1111 1101</a:t>
            </a:r>
          </a:p>
          <a:p>
            <a:pPr>
              <a:buNone/>
            </a:pPr>
            <a:r>
              <a:rPr lang="en-US" altLang="ko-KR" sz="3600" dirty="0" smtClean="0"/>
              <a:t>#define LO_LCD_RW		(PORTA &amp;= 0xfb)//1111 1011</a:t>
            </a:r>
          </a:p>
          <a:p>
            <a:pPr>
              <a:buNone/>
            </a:pPr>
            <a:r>
              <a:rPr lang="en-US" altLang="ko-KR" sz="3600" dirty="0" smtClean="0"/>
              <a:t>#define LO_LCD_E		(PORTA &amp;= 0x7f) //0111 1111</a:t>
            </a:r>
          </a:p>
          <a:p>
            <a:pPr>
              <a:buNone/>
            </a:pPr>
            <a:r>
              <a:rPr lang="en-US" altLang="ko-KR" sz="3600" dirty="0" smtClean="0"/>
              <a:t>#define HI_LCD_RS		(PORTA |= 0x02)//0000 0010</a:t>
            </a:r>
          </a:p>
          <a:p>
            <a:pPr>
              <a:buNone/>
            </a:pPr>
            <a:r>
              <a:rPr lang="en-US" altLang="ko-KR" sz="3600" dirty="0" smtClean="0"/>
              <a:t>#define HI_LCD_RW		(PORTA |= 0x04) //0000 0100</a:t>
            </a:r>
          </a:p>
          <a:p>
            <a:pPr>
              <a:buNone/>
            </a:pPr>
            <a:r>
              <a:rPr lang="en-US" altLang="ko-KR" sz="3600" dirty="0" smtClean="0"/>
              <a:t>#define HI_LCD_E		(PORTA |= 0x80) //1000 0000</a:t>
            </a:r>
          </a:p>
          <a:p>
            <a:pPr>
              <a:buNone/>
            </a:pPr>
            <a:endParaRPr lang="en-US" altLang="ko-KR" sz="3600" dirty="0" smtClean="0"/>
          </a:p>
          <a:p>
            <a:pPr>
              <a:buNone/>
            </a:pPr>
            <a:endParaRPr lang="en-US" altLang="ko-KR" sz="3600" dirty="0" smtClean="0"/>
          </a:p>
          <a:p>
            <a:pPr>
              <a:buNone/>
            </a:pPr>
            <a:r>
              <a:rPr lang="en-US" altLang="ko-KR" sz="3600" dirty="0" smtClean="0"/>
              <a:t>void </a:t>
            </a:r>
            <a:r>
              <a:rPr lang="en-US" altLang="ko-KR" sz="3600" dirty="0" err="1" smtClean="0"/>
              <a:t>delayy</a:t>
            </a:r>
            <a:r>
              <a:rPr lang="en-US" altLang="ko-KR" sz="3600" dirty="0" smtClean="0"/>
              <a:t>(</a:t>
            </a:r>
            <a:r>
              <a:rPr lang="en-US" altLang="ko-KR" sz="3600" dirty="0" err="1" smtClean="0"/>
              <a:t>int</a:t>
            </a:r>
            <a:r>
              <a:rPr lang="en-US" altLang="ko-KR" sz="3600" dirty="0" smtClean="0"/>
              <a:t> l)</a:t>
            </a:r>
          </a:p>
          <a:p>
            <a:pPr>
              <a:buNone/>
            </a:pPr>
            <a:r>
              <a:rPr lang="en-US" altLang="ko-KR" sz="3600" dirty="0" smtClean="0"/>
              <a:t>{ </a:t>
            </a:r>
          </a:p>
          <a:p>
            <a:pPr>
              <a:buNone/>
            </a:pPr>
            <a:r>
              <a:rPr lang="en-US" altLang="ko-KR" sz="3600" dirty="0" smtClean="0"/>
              <a:t>	BYTE </a:t>
            </a:r>
            <a:r>
              <a:rPr lang="en-US" altLang="ko-KR" sz="3600" dirty="0" err="1" smtClean="0"/>
              <a:t>i,j</a:t>
            </a:r>
            <a:r>
              <a:rPr lang="en-US" altLang="ko-KR" sz="3600" dirty="0" smtClean="0"/>
              <a:t>;</a:t>
            </a:r>
          </a:p>
          <a:p>
            <a:pPr>
              <a:buNone/>
            </a:pPr>
            <a:r>
              <a:rPr lang="en-US" altLang="ko-KR" sz="3600" dirty="0" smtClean="0"/>
              <a:t>	for (</a:t>
            </a:r>
            <a:r>
              <a:rPr lang="en-US" altLang="ko-KR" sz="3600" dirty="0" err="1" smtClean="0"/>
              <a:t>i</a:t>
            </a:r>
            <a:r>
              <a:rPr lang="en-US" altLang="ko-KR" sz="3600" dirty="0" smtClean="0"/>
              <a:t>=0;i&lt;</a:t>
            </a:r>
            <a:r>
              <a:rPr lang="en-US" altLang="ko-KR" sz="3600" dirty="0" err="1" smtClean="0"/>
              <a:t>l;i</a:t>
            </a:r>
            <a:r>
              <a:rPr lang="en-US" altLang="ko-KR" sz="3600" dirty="0" smtClean="0"/>
              <a:t>++)</a:t>
            </a:r>
          </a:p>
          <a:p>
            <a:pPr>
              <a:buNone/>
            </a:pPr>
            <a:r>
              <a:rPr lang="en-US" altLang="ko-KR" sz="3600" dirty="0" smtClean="0"/>
              <a:t>		for (j=0;j&lt;255;j++);</a:t>
            </a:r>
          </a:p>
          <a:p>
            <a:pPr>
              <a:buNone/>
            </a:pPr>
            <a:r>
              <a:rPr lang="en-US" altLang="ko-KR" sz="3600" dirty="0" smtClean="0"/>
              <a:t>}</a:t>
            </a:r>
          </a:p>
          <a:p>
            <a:pPr>
              <a:buNone/>
            </a:pPr>
            <a:endParaRPr lang="en-US" altLang="ko-KR" sz="3600" dirty="0" smtClean="0"/>
          </a:p>
          <a:p>
            <a:pPr>
              <a:buNone/>
            </a:pPr>
            <a:r>
              <a:rPr lang="en-US" altLang="ko-KR" sz="3600" dirty="0" smtClean="0"/>
              <a:t>/******** Start  LCD </a:t>
            </a:r>
            <a:r>
              <a:rPr lang="ko-KR" altLang="en-US" sz="3600" dirty="0" smtClean="0"/>
              <a:t>관련모듈 ***********</a:t>
            </a:r>
            <a:r>
              <a:rPr lang="en-US" altLang="ko-KR" sz="3600" dirty="0" smtClean="0"/>
              <a:t>/</a:t>
            </a:r>
          </a:p>
          <a:p>
            <a:pPr>
              <a:buNone/>
            </a:pPr>
            <a:r>
              <a:rPr lang="en-US" altLang="ko-KR" sz="3600" dirty="0" smtClean="0"/>
              <a:t>void </a:t>
            </a:r>
            <a:r>
              <a:rPr lang="en-US" altLang="ko-KR" sz="3600" dirty="0" err="1" smtClean="0"/>
              <a:t>lcd_write</a:t>
            </a:r>
            <a:r>
              <a:rPr lang="en-US" altLang="ko-KR" sz="3600" dirty="0" smtClean="0"/>
              <a:t>(BYTE </a:t>
            </a:r>
            <a:r>
              <a:rPr lang="en-US" altLang="ko-KR" sz="3600" dirty="0" err="1" smtClean="0"/>
              <a:t>rs</a:t>
            </a:r>
            <a:r>
              <a:rPr lang="en-US" altLang="ko-KR" sz="3600" dirty="0" smtClean="0"/>
              <a:t>, BYTE </a:t>
            </a:r>
            <a:r>
              <a:rPr lang="en-US" altLang="ko-KR" sz="3600" dirty="0" err="1" smtClean="0"/>
              <a:t>ch</a:t>
            </a:r>
            <a:r>
              <a:rPr lang="en-US" altLang="ko-KR" sz="3600" dirty="0" smtClean="0"/>
              <a:t>)	</a:t>
            </a:r>
            <a:r>
              <a:rPr lang="en-US" altLang="ko-KR" sz="3600" dirty="0" smtClean="0">
                <a:solidFill>
                  <a:srgbClr val="C00000"/>
                </a:solidFill>
              </a:rPr>
              <a:t>// </a:t>
            </a:r>
            <a:r>
              <a:rPr lang="en-US" altLang="ko-KR" sz="3600" dirty="0" err="1" smtClean="0">
                <a:solidFill>
                  <a:srgbClr val="C00000"/>
                </a:solidFill>
              </a:rPr>
              <a:t>lcd_write</a:t>
            </a:r>
            <a:r>
              <a:rPr lang="en-US" altLang="ko-KR" sz="3600" dirty="0" smtClean="0">
                <a:solidFill>
                  <a:srgbClr val="C00000"/>
                </a:solidFill>
              </a:rPr>
              <a:t> (</a:t>
            </a:r>
            <a:r>
              <a:rPr lang="ko-KR" altLang="en-US" sz="3600" dirty="0" smtClean="0">
                <a:solidFill>
                  <a:srgbClr val="C00000"/>
                </a:solidFill>
              </a:rPr>
              <a:t>명령어</a:t>
            </a:r>
            <a:r>
              <a:rPr lang="en-US" altLang="ko-KR" sz="3600" dirty="0" smtClean="0">
                <a:solidFill>
                  <a:srgbClr val="C00000"/>
                </a:solidFill>
              </a:rPr>
              <a:t>, </a:t>
            </a:r>
            <a:r>
              <a:rPr lang="ko-KR" altLang="en-US" sz="3600" dirty="0" smtClean="0">
                <a:solidFill>
                  <a:srgbClr val="C00000"/>
                </a:solidFill>
              </a:rPr>
              <a:t>데이터</a:t>
            </a:r>
            <a:r>
              <a:rPr lang="en-US" altLang="ko-KR" sz="3600" dirty="0" smtClean="0">
                <a:solidFill>
                  <a:srgbClr val="C00000"/>
                </a:solidFill>
              </a:rPr>
              <a:t>)</a:t>
            </a:r>
          </a:p>
          <a:p>
            <a:pPr>
              <a:buNone/>
            </a:pPr>
            <a:r>
              <a:rPr lang="en-US" altLang="ko-KR" sz="3600" dirty="0" smtClean="0"/>
              <a:t>   {</a:t>
            </a:r>
          </a:p>
          <a:p>
            <a:pPr>
              <a:buNone/>
            </a:pPr>
            <a:r>
              <a:rPr lang="en-US" altLang="ko-KR" sz="3600" dirty="0" smtClean="0"/>
              <a:t>	OUT_LCD_DATA;</a:t>
            </a:r>
          </a:p>
          <a:p>
            <a:pPr>
              <a:buNone/>
            </a:pPr>
            <a:r>
              <a:rPr lang="en-US" altLang="ko-KR" sz="3600" dirty="0" smtClean="0"/>
              <a:t>	LO_LCD_E;</a:t>
            </a:r>
          </a:p>
          <a:p>
            <a:pPr>
              <a:buNone/>
            </a:pPr>
            <a:r>
              <a:rPr lang="en-US" altLang="ko-KR" sz="3600" dirty="0" smtClean="0"/>
              <a:t>	if(</a:t>
            </a:r>
            <a:r>
              <a:rPr lang="en-US" altLang="ko-KR" sz="3600" dirty="0" err="1" smtClean="0"/>
              <a:t>rs</a:t>
            </a:r>
            <a:r>
              <a:rPr lang="en-US" altLang="ko-KR" sz="3600" dirty="0" smtClean="0"/>
              <a:t>) HI_LCD_RS;</a:t>
            </a:r>
          </a:p>
          <a:p>
            <a:pPr>
              <a:buNone/>
            </a:pPr>
            <a:r>
              <a:rPr lang="en-US" altLang="ko-KR" sz="3600" dirty="0" smtClean="0"/>
              <a:t>	else   LO_LCD_RS;</a:t>
            </a:r>
          </a:p>
          <a:p>
            <a:pPr>
              <a:buNone/>
            </a:pPr>
            <a:endParaRPr lang="en-US" altLang="ko-KR" sz="3600" dirty="0" smtClean="0"/>
          </a:p>
          <a:p>
            <a:pPr>
              <a:buNone/>
            </a:pPr>
            <a:r>
              <a:rPr lang="en-US" altLang="ko-KR" sz="3600" dirty="0" smtClean="0"/>
              <a:t>	LO_LCD_RW;</a:t>
            </a:r>
          </a:p>
          <a:p>
            <a:pPr>
              <a:buNone/>
            </a:pPr>
            <a:r>
              <a:rPr lang="en-US" altLang="ko-KR" sz="3600" dirty="0" smtClean="0"/>
              <a:t>	HI_LCD_E;</a:t>
            </a:r>
          </a:p>
          <a:p>
            <a:pPr>
              <a:buNone/>
            </a:pPr>
            <a:r>
              <a:rPr lang="en-US" altLang="ko-KR" sz="3600" dirty="0" smtClean="0"/>
              <a:t>	LCD_DATA(</a:t>
            </a:r>
            <a:r>
              <a:rPr lang="en-US" altLang="ko-KR" sz="3600" dirty="0" err="1" smtClean="0"/>
              <a:t>ch</a:t>
            </a:r>
            <a:r>
              <a:rPr lang="en-US" altLang="ko-KR" sz="3600" dirty="0" smtClean="0"/>
              <a:t>);</a:t>
            </a:r>
          </a:p>
          <a:p>
            <a:pPr>
              <a:buNone/>
            </a:pPr>
            <a:endParaRPr lang="en-US" altLang="ko-KR" sz="3600" dirty="0" smtClean="0"/>
          </a:p>
          <a:p>
            <a:pPr>
              <a:buNone/>
            </a:pPr>
            <a:r>
              <a:rPr lang="en-US" altLang="ko-KR" sz="3600" dirty="0" smtClean="0"/>
              <a:t>	LO_LCD_E;</a:t>
            </a:r>
          </a:p>
          <a:p>
            <a:pPr>
              <a:buNone/>
            </a:pPr>
            <a:r>
              <a:rPr lang="en-US" altLang="ko-KR" sz="3600" dirty="0" smtClean="0"/>
              <a:t>}</a:t>
            </a:r>
          </a:p>
          <a:p>
            <a:pPr>
              <a:buNone/>
            </a:pPr>
            <a:r>
              <a:rPr lang="en-US" altLang="ko-KR" sz="3600" dirty="0" smtClean="0">
                <a:solidFill>
                  <a:srgbClr val="C00000"/>
                </a:solidFill>
              </a:rPr>
              <a:t>// LCD</a:t>
            </a:r>
            <a:r>
              <a:rPr lang="ko-KR" altLang="en-US" sz="3600" dirty="0" smtClean="0">
                <a:solidFill>
                  <a:srgbClr val="C00000"/>
                </a:solidFill>
              </a:rPr>
              <a:t>버퍼에 문자 넣기</a:t>
            </a:r>
          </a:p>
          <a:p>
            <a:pPr>
              <a:buNone/>
            </a:pPr>
            <a:r>
              <a:rPr lang="en-US" altLang="ko-KR" sz="3600" dirty="0" smtClean="0"/>
              <a:t>void </a:t>
            </a:r>
            <a:r>
              <a:rPr lang="en-US" altLang="ko-KR" sz="3600" dirty="0" err="1" smtClean="0"/>
              <a:t>cputs</a:t>
            </a:r>
            <a:r>
              <a:rPr lang="en-US" altLang="ko-KR" sz="3600" dirty="0" smtClean="0"/>
              <a:t>(char *</a:t>
            </a:r>
            <a:r>
              <a:rPr lang="en-US" altLang="ko-KR" sz="3600" dirty="0" err="1" smtClean="0"/>
              <a:t>str</a:t>
            </a:r>
            <a:r>
              <a:rPr lang="en-US" altLang="ko-KR" sz="3600" dirty="0" smtClean="0"/>
              <a:t>)</a:t>
            </a:r>
          </a:p>
          <a:p>
            <a:pPr>
              <a:buNone/>
            </a:pPr>
            <a:r>
              <a:rPr lang="en-US" altLang="ko-KR" sz="3600" dirty="0" smtClean="0"/>
              <a:t>{</a:t>
            </a:r>
          </a:p>
          <a:p>
            <a:pPr>
              <a:buNone/>
            </a:pPr>
            <a:r>
              <a:rPr lang="en-US" altLang="ko-KR" sz="3600" dirty="0" smtClean="0"/>
              <a:t>	</a:t>
            </a:r>
            <a:r>
              <a:rPr lang="en-US" altLang="ko-KR" sz="3600" dirty="0" err="1" smtClean="0"/>
              <a:t>int</a:t>
            </a:r>
            <a:r>
              <a:rPr lang="en-US" altLang="ko-KR" sz="3600" dirty="0" smtClean="0"/>
              <a:t> </a:t>
            </a:r>
            <a:r>
              <a:rPr lang="en-US" altLang="ko-KR" sz="3600" dirty="0" err="1" smtClean="0"/>
              <a:t>i</a:t>
            </a:r>
            <a:r>
              <a:rPr lang="en-US" altLang="ko-KR" sz="3600" dirty="0" smtClean="0"/>
              <a:t>;</a:t>
            </a:r>
          </a:p>
          <a:p>
            <a:pPr>
              <a:buNone/>
            </a:pPr>
            <a:r>
              <a:rPr lang="en-US" altLang="ko-KR" sz="3600" dirty="0" smtClean="0"/>
              <a:t>	for (</a:t>
            </a:r>
            <a:r>
              <a:rPr lang="en-US" altLang="ko-KR" sz="3600" dirty="0" err="1" smtClean="0"/>
              <a:t>i</a:t>
            </a:r>
            <a:r>
              <a:rPr lang="en-US" altLang="ko-KR" sz="3600" dirty="0" smtClean="0"/>
              <a:t>=0;i&lt;16;i++)</a:t>
            </a:r>
          </a:p>
          <a:p>
            <a:pPr>
              <a:buNone/>
            </a:pPr>
            <a:r>
              <a:rPr lang="en-US" altLang="ko-KR" sz="3600" dirty="0" smtClean="0"/>
              <a:t>	{</a:t>
            </a:r>
          </a:p>
          <a:p>
            <a:pPr>
              <a:buNone/>
            </a:pPr>
            <a:r>
              <a:rPr lang="en-US" altLang="ko-KR" sz="3600" dirty="0" smtClean="0"/>
              <a:t>		if (</a:t>
            </a:r>
            <a:r>
              <a:rPr lang="en-US" altLang="ko-KR" sz="3600" dirty="0" err="1" smtClean="0"/>
              <a:t>str</a:t>
            </a:r>
            <a:r>
              <a:rPr lang="en-US" altLang="ko-KR" sz="3600" dirty="0" smtClean="0"/>
              <a:t>[</a:t>
            </a:r>
            <a:r>
              <a:rPr lang="en-US" altLang="ko-KR" sz="3600" dirty="0" err="1" smtClean="0"/>
              <a:t>i</a:t>
            </a:r>
            <a:r>
              <a:rPr lang="en-US" altLang="ko-KR" sz="3600" dirty="0" smtClean="0"/>
              <a:t>] == '\0')</a:t>
            </a:r>
          </a:p>
          <a:p>
            <a:pPr>
              <a:buNone/>
            </a:pPr>
            <a:r>
              <a:rPr lang="en-US" altLang="ko-KR" sz="3600" dirty="0" smtClean="0"/>
              <a:t>		    break;</a:t>
            </a:r>
          </a:p>
          <a:p>
            <a:pPr>
              <a:buNone/>
            </a:pPr>
            <a:endParaRPr lang="en-US" altLang="ko-KR" sz="3600" dirty="0" smtClean="0"/>
          </a:p>
          <a:p>
            <a:pPr>
              <a:buNone/>
            </a:pPr>
            <a:r>
              <a:rPr lang="en-US" altLang="ko-KR" sz="3600" dirty="0" smtClean="0"/>
              <a:t>		</a:t>
            </a:r>
            <a:r>
              <a:rPr lang="en-US" altLang="ko-KR" sz="3600" dirty="0" err="1" smtClean="0"/>
              <a:t>lcd_write</a:t>
            </a:r>
            <a:r>
              <a:rPr lang="en-US" altLang="ko-KR" sz="3600" dirty="0" smtClean="0"/>
              <a:t>(1, </a:t>
            </a:r>
            <a:r>
              <a:rPr lang="en-US" altLang="ko-KR" sz="3600" dirty="0" err="1" smtClean="0"/>
              <a:t>str</a:t>
            </a:r>
            <a:r>
              <a:rPr lang="en-US" altLang="ko-KR" sz="3600" dirty="0" smtClean="0"/>
              <a:t>[</a:t>
            </a:r>
            <a:r>
              <a:rPr lang="en-US" altLang="ko-KR" sz="3600" dirty="0" err="1" smtClean="0"/>
              <a:t>i</a:t>
            </a:r>
            <a:r>
              <a:rPr lang="en-US" altLang="ko-KR" sz="3600" dirty="0" smtClean="0"/>
              <a:t>]);</a:t>
            </a:r>
          </a:p>
          <a:p>
            <a:pPr>
              <a:buNone/>
            </a:pPr>
            <a:r>
              <a:rPr lang="en-US" altLang="ko-KR" sz="3600" dirty="0" smtClean="0"/>
              <a:t>		</a:t>
            </a:r>
            <a:r>
              <a:rPr lang="en-US" altLang="ko-KR" sz="3600" dirty="0" err="1" smtClean="0"/>
              <a:t>delayy</a:t>
            </a:r>
            <a:r>
              <a:rPr lang="en-US" altLang="ko-KR" sz="3600" dirty="0" smtClean="0"/>
              <a:t>(5);</a:t>
            </a:r>
          </a:p>
          <a:p>
            <a:pPr>
              <a:buNone/>
            </a:pPr>
            <a:r>
              <a:rPr lang="en-US" altLang="ko-KR" sz="3600" dirty="0" smtClean="0"/>
              <a:t>	}</a:t>
            </a:r>
          </a:p>
          <a:p>
            <a:pPr>
              <a:buNone/>
            </a:pPr>
            <a:r>
              <a:rPr lang="en-US" altLang="ko-KR" sz="3600" dirty="0" smtClean="0"/>
              <a:t>}</a:t>
            </a:r>
          </a:p>
          <a:p>
            <a:pPr>
              <a:buNone/>
            </a:pPr>
            <a:r>
              <a:rPr lang="en-US" altLang="ko-KR" sz="3600" dirty="0" smtClean="0"/>
              <a:t>void </a:t>
            </a:r>
            <a:r>
              <a:rPr lang="en-US" altLang="ko-KR" sz="3600" dirty="0" err="1" smtClean="0"/>
              <a:t>lcd_clear</a:t>
            </a:r>
            <a:r>
              <a:rPr lang="en-US" altLang="ko-KR" sz="3600" dirty="0" smtClean="0"/>
              <a:t>(void)</a:t>
            </a:r>
          </a:p>
          <a:p>
            <a:pPr>
              <a:buNone/>
            </a:pPr>
            <a:r>
              <a:rPr lang="en-US" altLang="ko-KR" sz="3600" dirty="0" smtClean="0"/>
              <a:t>{</a:t>
            </a:r>
          </a:p>
          <a:p>
            <a:pPr>
              <a:buNone/>
            </a:pPr>
            <a:r>
              <a:rPr lang="en-US" altLang="ko-KR" sz="3600" dirty="0" smtClean="0"/>
              <a:t>         </a:t>
            </a:r>
            <a:r>
              <a:rPr lang="en-US" altLang="ko-KR" sz="3600" dirty="0" err="1" smtClean="0"/>
              <a:t>lcd_write</a:t>
            </a:r>
            <a:r>
              <a:rPr lang="en-US" altLang="ko-KR" sz="3600" dirty="0" smtClean="0"/>
              <a:t>(0, 0x01);  // Clear</a:t>
            </a:r>
          </a:p>
          <a:p>
            <a:pPr>
              <a:buNone/>
            </a:pPr>
            <a:r>
              <a:rPr lang="en-US" altLang="ko-KR" sz="3600" dirty="0" smtClean="0"/>
              <a:t>	     </a:t>
            </a:r>
            <a:r>
              <a:rPr lang="en-US" altLang="ko-KR" sz="3600" dirty="0" err="1" smtClean="0"/>
              <a:t>delayy</a:t>
            </a:r>
            <a:r>
              <a:rPr lang="en-US" altLang="ko-KR" sz="3600" dirty="0" smtClean="0"/>
              <a:t>(50);</a:t>
            </a:r>
          </a:p>
          <a:p>
            <a:pPr>
              <a:buNone/>
            </a:pPr>
            <a:r>
              <a:rPr lang="en-US" altLang="ko-KR" sz="3600" dirty="0" smtClean="0"/>
              <a:t>}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3000375" cy="500063"/>
          </a:xfrm>
        </p:spPr>
        <p:txBody>
          <a:bodyPr>
            <a:normAutofit fontScale="90000"/>
          </a:bodyPr>
          <a:lstStyle/>
          <a:p>
            <a:r>
              <a:rPr lang="en-US" altLang="ko-KR" sz="2800" dirty="0" smtClean="0"/>
              <a:t>AVR Edit -</a:t>
            </a:r>
            <a:r>
              <a:rPr lang="ko-KR" altLang="en-US" sz="2800" dirty="0" smtClean="0"/>
              <a:t> </a:t>
            </a:r>
            <a:r>
              <a:rPr lang="en-US" altLang="ko-KR" sz="2800" dirty="0" smtClean="0"/>
              <a:t>LCD Code</a:t>
            </a:r>
            <a:endParaRPr lang="ko-KR" altLang="en-US" sz="2800" dirty="0"/>
          </a:p>
        </p:txBody>
      </p:sp>
      <p:sp>
        <p:nvSpPr>
          <p:cNvPr id="5" name="직사각형 4"/>
          <p:cNvSpPr/>
          <p:nvPr/>
        </p:nvSpPr>
        <p:spPr>
          <a:xfrm>
            <a:off x="71406" y="4714884"/>
            <a:ext cx="4357718" cy="1428760"/>
          </a:xfrm>
          <a:prstGeom prst="rect">
            <a:avLst/>
          </a:prstGeom>
          <a:noFill/>
          <a:ln w="28575" cmpd="sng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4643438" y="500042"/>
            <a:ext cx="4500562" cy="2143140"/>
          </a:xfrm>
          <a:prstGeom prst="rect">
            <a:avLst/>
          </a:prstGeom>
          <a:noFill/>
          <a:ln w="28575" cmpd="sng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71406" y="3286124"/>
            <a:ext cx="4357718" cy="1357322"/>
          </a:xfrm>
          <a:prstGeom prst="rect">
            <a:avLst/>
          </a:prstGeom>
          <a:noFill/>
          <a:ln w="28575" cmpd="sng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5214942" cy="64497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96297" y="4500570"/>
            <a:ext cx="5547703" cy="22336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6616108" cy="6072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929058" y="671499"/>
            <a:ext cx="5214942" cy="61865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TestBench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Source + Test Bench</a:t>
            </a:r>
            <a:endParaRPr lang="ko-KR" alt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1357313"/>
            <a:ext cx="5143500" cy="2439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71438" y="1071546"/>
            <a:ext cx="41434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/>
              <a:t>VHDL</a:t>
            </a:r>
            <a:r>
              <a:rPr lang="ko-KR" altLang="en-US" sz="1400" dirty="0" smtClean="0"/>
              <a:t>을 이용한 디지털회로입문 </a:t>
            </a:r>
            <a:r>
              <a:rPr lang="en-US" altLang="ko-KR" sz="1400" dirty="0" smtClean="0"/>
              <a:t>147p</a:t>
            </a:r>
            <a:endParaRPr lang="ko-KR" altLang="en-US" sz="1400" dirty="0"/>
          </a:p>
        </p:txBody>
      </p:sp>
      <p:sp>
        <p:nvSpPr>
          <p:cNvPr id="7" name="TextBox 6"/>
          <p:cNvSpPr txBox="1"/>
          <p:nvPr/>
        </p:nvSpPr>
        <p:spPr>
          <a:xfrm>
            <a:off x="5572132" y="2071678"/>
            <a:ext cx="3357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/>
              <a:t>VHDL</a:t>
            </a:r>
            <a:r>
              <a:rPr lang="ko-KR" altLang="en-US" sz="1400" dirty="0" smtClean="0"/>
              <a:t>을 이용한 디지털회로입문 </a:t>
            </a:r>
            <a:r>
              <a:rPr lang="en-US" altLang="ko-KR" sz="1400" dirty="0" smtClean="0"/>
              <a:t>163p</a:t>
            </a:r>
            <a:endParaRPr lang="ko-KR" altLang="en-US" sz="14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702911" y="2357430"/>
            <a:ext cx="5283918" cy="43719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설명선 2(강조선) 8"/>
          <p:cNvSpPr/>
          <p:nvPr/>
        </p:nvSpPr>
        <p:spPr>
          <a:xfrm>
            <a:off x="357158" y="4857760"/>
            <a:ext cx="2714644" cy="1357322"/>
          </a:xfrm>
          <a:prstGeom prst="accentCallout2">
            <a:avLst>
              <a:gd name="adj1" fmla="val 27171"/>
              <a:gd name="adj2" fmla="val 100374"/>
              <a:gd name="adj3" fmla="val 27937"/>
              <a:gd name="adj4" fmla="val 110413"/>
              <a:gd name="adj5" fmla="val 103314"/>
              <a:gd name="adj6" fmla="val 174575"/>
            </a:avLst>
          </a:prstGeom>
          <a:noFill/>
          <a:ln w="28575" cmpd="sng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rgbClr val="C00000"/>
                </a:solidFill>
              </a:rPr>
              <a:t>다시 </a:t>
            </a:r>
            <a:r>
              <a:rPr lang="en-US" altLang="ko-KR" dirty="0" smtClean="0">
                <a:solidFill>
                  <a:srgbClr val="C00000"/>
                </a:solidFill>
              </a:rPr>
              <a:t>wait for </a:t>
            </a:r>
            <a:r>
              <a:rPr lang="ko-KR" altLang="en-US" dirty="0" smtClean="0">
                <a:solidFill>
                  <a:srgbClr val="C00000"/>
                </a:solidFill>
              </a:rPr>
              <a:t>해야 </a:t>
            </a:r>
            <a:r>
              <a:rPr lang="en-US" altLang="ko-KR" dirty="0" smtClean="0">
                <a:solidFill>
                  <a:srgbClr val="C00000"/>
                </a:solidFill>
              </a:rPr>
              <a:t>Simulation</a:t>
            </a:r>
            <a:r>
              <a:rPr lang="ko-KR" altLang="en-US" dirty="0" smtClean="0">
                <a:solidFill>
                  <a:srgbClr val="C00000"/>
                </a:solidFill>
              </a:rPr>
              <a:t>에서 </a:t>
            </a:r>
            <a:endParaRPr lang="en-US" altLang="ko-KR" dirty="0" smtClean="0">
              <a:solidFill>
                <a:srgbClr val="C00000"/>
              </a:solidFill>
            </a:endParaRPr>
          </a:p>
          <a:p>
            <a:pPr algn="ctr"/>
            <a:r>
              <a:rPr lang="ko-KR" altLang="en-US" dirty="0" smtClean="0">
                <a:solidFill>
                  <a:srgbClr val="C00000"/>
                </a:solidFill>
              </a:rPr>
              <a:t> </a:t>
            </a:r>
            <a:r>
              <a:rPr lang="en-US" altLang="ko-KR" dirty="0" smtClean="0">
                <a:solidFill>
                  <a:srgbClr val="C00000"/>
                </a:solidFill>
              </a:rPr>
              <a:t>IN_A &lt;= ‘1’ </a:t>
            </a:r>
            <a:r>
              <a:rPr lang="ko-KR" altLang="en-US" dirty="0" smtClean="0">
                <a:solidFill>
                  <a:srgbClr val="C00000"/>
                </a:solidFill>
              </a:rPr>
              <a:t>을 확인할수 있다</a:t>
            </a:r>
            <a:r>
              <a:rPr lang="en-US" altLang="ko-KR" dirty="0" smtClean="0">
                <a:solidFill>
                  <a:srgbClr val="C00000"/>
                </a:solidFill>
              </a:rPr>
              <a:t>.</a:t>
            </a:r>
            <a:endParaRPr lang="ko-KR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1276357"/>
            <a:ext cx="5314950" cy="278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171950" y="1776423"/>
            <a:ext cx="4972050" cy="3152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71472" y="4400550"/>
            <a:ext cx="8351837" cy="245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직사각형 4"/>
          <p:cNvSpPr/>
          <p:nvPr/>
        </p:nvSpPr>
        <p:spPr>
          <a:xfrm>
            <a:off x="1285852" y="1776423"/>
            <a:ext cx="1285884" cy="142876"/>
          </a:xfrm>
          <a:prstGeom prst="rect">
            <a:avLst/>
          </a:prstGeom>
          <a:noFill/>
          <a:ln w="38100" cmpd="sng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8215338" y="3919563"/>
            <a:ext cx="785818" cy="214314"/>
          </a:xfrm>
          <a:prstGeom prst="rect">
            <a:avLst/>
          </a:prstGeom>
          <a:noFill/>
          <a:ln w="38100" cmpd="sng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4286248" y="2633679"/>
            <a:ext cx="1428760" cy="357190"/>
          </a:xfrm>
          <a:prstGeom prst="rect">
            <a:avLst/>
          </a:prstGeom>
          <a:noFill/>
          <a:ln w="38100" cmpd="sng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제목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Compile</a:t>
            </a:r>
            <a:endParaRPr lang="ko-KR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1000108"/>
            <a:ext cx="6475413" cy="252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14810" y="2771775"/>
            <a:ext cx="4600575" cy="408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직사각형 3"/>
          <p:cNvSpPr/>
          <p:nvPr/>
        </p:nvSpPr>
        <p:spPr>
          <a:xfrm>
            <a:off x="2000232" y="1643050"/>
            <a:ext cx="1285884" cy="142876"/>
          </a:xfrm>
          <a:prstGeom prst="rect">
            <a:avLst/>
          </a:prstGeom>
          <a:noFill/>
          <a:ln w="38100" cmpd="sng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7429520" y="6557989"/>
            <a:ext cx="642942" cy="142876"/>
          </a:xfrm>
          <a:prstGeom prst="rect">
            <a:avLst/>
          </a:prstGeom>
          <a:noFill/>
          <a:ln w="38100" cmpd="sng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4357686" y="3700469"/>
            <a:ext cx="4000528" cy="500066"/>
          </a:xfrm>
          <a:prstGeom prst="rect">
            <a:avLst/>
          </a:prstGeom>
          <a:noFill/>
          <a:ln w="38100" cmpd="sng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Simulation</a:t>
            </a:r>
            <a:endParaRPr lang="ko-KR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785794"/>
            <a:ext cx="4667250" cy="379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직사각형 4"/>
          <p:cNvSpPr/>
          <p:nvPr/>
        </p:nvSpPr>
        <p:spPr>
          <a:xfrm>
            <a:off x="214282" y="1500150"/>
            <a:ext cx="1285884" cy="142876"/>
          </a:xfrm>
          <a:prstGeom prst="rect">
            <a:avLst/>
          </a:prstGeom>
          <a:noFill/>
          <a:ln w="38100" cmpd="sng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2000232" y="2000216"/>
            <a:ext cx="2571768" cy="214314"/>
          </a:xfrm>
          <a:prstGeom prst="rect">
            <a:avLst/>
          </a:prstGeom>
          <a:noFill/>
          <a:ln w="38100" cmpd="sng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50064" y="2857496"/>
            <a:ext cx="6793936" cy="4000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직사각형 7"/>
          <p:cNvSpPr/>
          <p:nvPr/>
        </p:nvSpPr>
        <p:spPr>
          <a:xfrm>
            <a:off x="4929190" y="3857628"/>
            <a:ext cx="735946" cy="214314"/>
          </a:xfrm>
          <a:prstGeom prst="rect">
            <a:avLst/>
          </a:prstGeom>
          <a:noFill/>
          <a:ln w="38100" cmpd="sng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5752" y="3143248"/>
            <a:ext cx="9028280" cy="30239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Simulation </a:t>
            </a:r>
            <a:r>
              <a:rPr lang="ko-KR" altLang="en-US" dirty="0" smtClean="0"/>
              <a:t>결과</a:t>
            </a:r>
            <a:endParaRPr lang="ko-KR" altLang="en-US" dirty="0"/>
          </a:p>
        </p:txBody>
      </p:sp>
      <p:sp>
        <p:nvSpPr>
          <p:cNvPr id="4" name="설명선 3(테두리 없음) 3"/>
          <p:cNvSpPr/>
          <p:nvPr/>
        </p:nvSpPr>
        <p:spPr>
          <a:xfrm flipH="1">
            <a:off x="6215074" y="1857364"/>
            <a:ext cx="2571768" cy="1000132"/>
          </a:xfrm>
          <a:prstGeom prst="callout3">
            <a:avLst>
              <a:gd name="adj1" fmla="val 18750"/>
              <a:gd name="adj2" fmla="val 5404"/>
              <a:gd name="adj3" fmla="val 18750"/>
              <a:gd name="adj4" fmla="val -11010"/>
              <a:gd name="adj5" fmla="val 100000"/>
              <a:gd name="adj6" fmla="val -11010"/>
              <a:gd name="adj7" fmla="val 197118"/>
              <a:gd name="adj8" fmla="val -2272"/>
            </a:avLst>
          </a:prstGeom>
          <a:noFill/>
          <a:ln w="28575" cmpd="sng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rgbClr val="C00000"/>
                </a:solidFill>
              </a:rPr>
              <a:t>다시 </a:t>
            </a:r>
            <a:r>
              <a:rPr lang="en-US" altLang="ko-KR" dirty="0" smtClean="0">
                <a:solidFill>
                  <a:srgbClr val="C00000"/>
                </a:solidFill>
              </a:rPr>
              <a:t>wait for </a:t>
            </a:r>
            <a:r>
              <a:rPr lang="ko-KR" altLang="en-US" dirty="0" smtClean="0">
                <a:solidFill>
                  <a:srgbClr val="C00000"/>
                </a:solidFill>
              </a:rPr>
              <a:t>해야 </a:t>
            </a:r>
            <a:r>
              <a:rPr lang="en-US" altLang="ko-KR" dirty="0" smtClean="0">
                <a:solidFill>
                  <a:srgbClr val="C00000"/>
                </a:solidFill>
              </a:rPr>
              <a:t>Simulation</a:t>
            </a:r>
            <a:r>
              <a:rPr lang="ko-KR" altLang="en-US" dirty="0" smtClean="0">
                <a:solidFill>
                  <a:srgbClr val="C00000"/>
                </a:solidFill>
              </a:rPr>
              <a:t>에서 </a:t>
            </a:r>
            <a:endParaRPr lang="en-US" altLang="ko-KR" dirty="0" smtClean="0">
              <a:solidFill>
                <a:srgbClr val="C00000"/>
              </a:solidFill>
            </a:endParaRPr>
          </a:p>
          <a:p>
            <a:pPr algn="ctr"/>
            <a:r>
              <a:rPr lang="ko-KR" altLang="en-US" dirty="0" smtClean="0">
                <a:solidFill>
                  <a:srgbClr val="C00000"/>
                </a:solidFill>
              </a:rPr>
              <a:t> </a:t>
            </a:r>
            <a:r>
              <a:rPr lang="en-US" altLang="ko-KR" dirty="0" smtClean="0">
                <a:solidFill>
                  <a:srgbClr val="C00000"/>
                </a:solidFill>
              </a:rPr>
              <a:t>IN_A &lt;= ‘1’ </a:t>
            </a:r>
            <a:r>
              <a:rPr lang="ko-KR" altLang="en-US" dirty="0" smtClean="0">
                <a:solidFill>
                  <a:srgbClr val="C00000"/>
                </a:solidFill>
              </a:rPr>
              <a:t>을 확인할수 있다</a:t>
            </a:r>
            <a:r>
              <a:rPr lang="en-US" altLang="ko-KR" dirty="0" smtClean="0">
                <a:solidFill>
                  <a:srgbClr val="C00000"/>
                </a:solidFill>
              </a:rPr>
              <a:t>.</a:t>
            </a:r>
            <a:endParaRPr lang="ko-KR" altLang="en-US" dirty="0" smtClean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참고자료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>
                <a:hlinkClick r:id="rId2"/>
              </a:rPr>
              <a:t>http://users.ece.gatech.edu/~leehs/ECE3055/homework/modelsim_tut.pdf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Modelsim</a:t>
            </a:r>
            <a:r>
              <a:rPr lang="en-US" altLang="ko-KR" dirty="0" smtClean="0"/>
              <a:t> tutorial</a:t>
            </a:r>
          </a:p>
          <a:p>
            <a:endParaRPr lang="en-US" altLang="ko-KR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265</TotalTime>
  <Words>360</Words>
  <Application>Microsoft Office PowerPoint</Application>
  <PresentationFormat>화면 슬라이드 쇼(4:3)</PresentationFormat>
  <Paragraphs>255</Paragraphs>
  <Slides>15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6" baseType="lpstr">
      <vt:lpstr>Office 테마</vt:lpstr>
      <vt:lpstr>VHDL( Quartus Ⅱ + DE2) 2010.3.23</vt:lpstr>
      <vt:lpstr>LCD code 비교</vt:lpstr>
      <vt:lpstr>LCD Controller</vt:lpstr>
      <vt:lpstr>텍스트형 LCD 모듈의 제어 명령표</vt:lpstr>
      <vt:lpstr>LCD 초기화 순서</vt:lpstr>
      <vt:lpstr>AVR Edit - LCD Code</vt:lpstr>
      <vt:lpstr>PowerPoint 프레젠테이션</vt:lpstr>
      <vt:lpstr>PowerPoint 프레젠테이션</vt:lpstr>
      <vt:lpstr>TestBench</vt:lpstr>
      <vt:lpstr>Source + Test Bench</vt:lpstr>
      <vt:lpstr>Compile</vt:lpstr>
      <vt:lpstr>Simulation</vt:lpstr>
      <vt:lpstr>PowerPoint 프레젠테이션</vt:lpstr>
      <vt:lpstr>Simulation 결과</vt:lpstr>
      <vt:lpstr>참고자료</vt:lpstr>
    </vt:vector>
  </TitlesOfParts>
  <Company>XP SP3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VHDL( Quartus Ⅱ + DE2) 2010.3.15</dc:title>
  <dc:creator>Shin JiYoung</dc:creator>
  <cp:lastModifiedBy>sckim</cp:lastModifiedBy>
  <cp:revision>24</cp:revision>
  <dcterms:created xsi:type="dcterms:W3CDTF">2010-03-22T04:56:20Z</dcterms:created>
  <dcterms:modified xsi:type="dcterms:W3CDTF">2011-08-15T00:53:42Z</dcterms:modified>
</cp:coreProperties>
</file>